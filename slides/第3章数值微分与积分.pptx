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8"/>
  </p:notesMasterIdLst>
  <p:handoutMasterIdLst>
    <p:handoutMasterId r:id="rId39"/>
  </p:handoutMasterIdLst>
  <p:sldIdLst>
    <p:sldId id="258" r:id="rId3"/>
    <p:sldId id="309" r:id="rId4"/>
    <p:sldId id="315" r:id="rId5"/>
    <p:sldId id="307" r:id="rId6"/>
    <p:sldId id="296" r:id="rId7"/>
    <p:sldId id="297" r:id="rId8"/>
    <p:sldId id="298" r:id="rId9"/>
    <p:sldId id="262" r:id="rId10"/>
    <p:sldId id="299" r:id="rId11"/>
    <p:sldId id="285" r:id="rId12"/>
    <p:sldId id="267" r:id="rId13"/>
    <p:sldId id="268" r:id="rId14"/>
    <p:sldId id="269" r:id="rId15"/>
    <p:sldId id="274" r:id="rId16"/>
    <p:sldId id="270" r:id="rId17"/>
    <p:sldId id="308" r:id="rId18"/>
    <p:sldId id="290" r:id="rId19"/>
    <p:sldId id="276" r:id="rId20"/>
    <p:sldId id="301" r:id="rId21"/>
    <p:sldId id="278" r:id="rId22"/>
    <p:sldId id="279" r:id="rId23"/>
    <p:sldId id="264" r:id="rId24"/>
    <p:sldId id="263" r:id="rId25"/>
    <p:sldId id="280" r:id="rId26"/>
    <p:sldId id="281" r:id="rId27"/>
    <p:sldId id="317" r:id="rId28"/>
    <p:sldId id="318" r:id="rId29"/>
    <p:sldId id="319" r:id="rId30"/>
    <p:sldId id="303" r:id="rId31"/>
    <p:sldId id="311" r:id="rId32"/>
    <p:sldId id="306" r:id="rId33"/>
    <p:sldId id="312" r:id="rId34"/>
    <p:sldId id="313" r:id="rId35"/>
    <p:sldId id="314" r:id="rId36"/>
    <p:sldId id="310" r:id="rId37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学子大哥" initials="szx" lastIdx="5" clrIdx="0"/>
  <p:cmAuthor id="2" name="有虫" initials="有虫" lastIdx="1" clrIdx="1"/>
  <p:cmAuthor id="3" name="舒志学" initials="" lastIdx="0" clrIdx="2"/>
  <p:cmAuthor id="4" name="homohouse jhon" initials="hj" lastIdx="6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7D42"/>
    <a:srgbClr val="1B00C0"/>
    <a:srgbClr val="D0E4A6"/>
    <a:srgbClr val="0070C0"/>
    <a:srgbClr val="00B050"/>
    <a:srgbClr val="7030A0"/>
    <a:srgbClr val="000000"/>
    <a:srgbClr val="4F271C"/>
    <a:srgbClr val="30312F"/>
    <a:srgbClr val="D2D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16" autoAdjust="0"/>
  </p:normalViewPr>
  <p:slideViewPr>
    <p:cSldViewPr showGuides="1">
      <p:cViewPr varScale="1">
        <p:scale>
          <a:sx n="84" d="100"/>
          <a:sy n="84" d="100"/>
        </p:scale>
        <p:origin x="-1176" y="-354"/>
      </p:cViewPr>
      <p:guideLst>
        <p:guide orient="horz" pos="2160"/>
        <p:guide pos="286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7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tags" Target="tags/tag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E5E6C0-47F3-41B8-BC7F-D5B31A00E2D6}" type="doc">
      <dgm:prSet loTypeId="urn:microsoft.com/office/officeart/2005/8/layout/hList9#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2DC3118F-24E6-4281-8AB6-E48C93359D29}">
      <dgm:prSet phldrT="[文本]" custT="1"/>
      <dgm:spPr/>
      <dgm:t>
        <a:bodyPr/>
        <a:lstStyle/>
        <a:p>
          <a:r>
            <a:rPr lang="zh-CN" altLang="en-US" sz="2800" b="1" dirty="0" smtClean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rPr>
            <a:t>数值微分</a:t>
          </a:r>
          <a:endParaRPr lang="zh-CN" altLang="en-US" sz="2800" b="1" dirty="0">
            <a:solidFill>
              <a:schemeClr val="bg1"/>
            </a:solidFill>
            <a:latin typeface="华文细黑" panose="02010600040101010101" pitchFamily="2" charset="-122"/>
            <a:ea typeface="华文细黑" panose="02010600040101010101" pitchFamily="2" charset="-122"/>
          </a:endParaRPr>
        </a:p>
      </dgm:t>
    </dgm:pt>
    <dgm:pt modelId="{F1EE1463-4196-460A-877F-E33A7775CBE5}" type="parTrans" cxnId="{2E0C9419-0D74-4E80-BBE9-38E9D3CACB33}">
      <dgm:prSet/>
      <dgm:spPr/>
      <dgm:t>
        <a:bodyPr/>
        <a:lstStyle/>
        <a:p>
          <a:endParaRPr lang="zh-CN" altLang="en-US"/>
        </a:p>
      </dgm:t>
    </dgm:pt>
    <dgm:pt modelId="{8AEBC2F9-CEC6-4A12-B870-964E876CA0F8}" type="sibTrans" cxnId="{2E0C9419-0D74-4E80-BBE9-38E9D3CACB33}">
      <dgm:prSet/>
      <dgm:spPr/>
      <dgm:t>
        <a:bodyPr/>
        <a:lstStyle/>
        <a:p>
          <a:endParaRPr lang="zh-CN" altLang="en-US"/>
        </a:p>
      </dgm:t>
    </dgm:pt>
    <dgm:pt modelId="{26192A7F-2709-4E65-9B40-A991565C20A8}">
      <dgm:prSet phldrT="[文本]" custT="1"/>
      <dgm:spPr/>
      <dgm:t>
        <a:bodyPr/>
        <a:lstStyle/>
        <a:p>
          <a:r>
            <a:rPr lang="zh-CN" altLang="en-US" sz="2800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rPr>
            <a:t>公式：</a:t>
          </a:r>
          <a:endParaRPr lang="en-US" altLang="zh-CN" sz="2800" dirty="0" smtClean="0">
            <a:solidFill>
              <a:srgbClr val="FF0000"/>
            </a:solidFill>
            <a:latin typeface="华文楷体" panose="02010600040101010101" pitchFamily="2" charset="-122"/>
            <a:ea typeface="华文楷体" panose="02010600040101010101" pitchFamily="2" charset="-122"/>
          </a:endParaRPr>
        </a:p>
        <a:p>
          <a:r>
            <a:rPr lang="zh-CN" altLang="en-US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前差，  后差，  中心差分，   二阶导数</a:t>
          </a:r>
          <a:endParaRPr lang="zh-CN" altLang="en-US" sz="2800" dirty="0">
            <a:latin typeface="华文楷体" panose="02010600040101010101" pitchFamily="2" charset="-122"/>
            <a:ea typeface="华文楷体" panose="02010600040101010101" pitchFamily="2" charset="-122"/>
          </a:endParaRPr>
        </a:p>
      </dgm:t>
    </dgm:pt>
    <dgm:pt modelId="{4541F0B3-6F6C-48B1-8A6B-446955C3E6B0}" type="parTrans" cxnId="{0A3AF866-3AE5-4400-B06E-6266AF91B3E1}">
      <dgm:prSet/>
      <dgm:spPr/>
      <dgm:t>
        <a:bodyPr/>
        <a:lstStyle/>
        <a:p>
          <a:endParaRPr lang="zh-CN" altLang="en-US"/>
        </a:p>
      </dgm:t>
    </dgm:pt>
    <dgm:pt modelId="{7D687960-C44C-43F3-91FE-45E57F92EE85}" type="sibTrans" cxnId="{0A3AF866-3AE5-4400-B06E-6266AF91B3E1}">
      <dgm:prSet/>
      <dgm:spPr/>
      <dgm:t>
        <a:bodyPr/>
        <a:lstStyle/>
        <a:p>
          <a:endParaRPr lang="zh-CN" altLang="en-US"/>
        </a:p>
      </dgm:t>
    </dgm:pt>
    <dgm:pt modelId="{D561299B-70BA-49A3-9DAC-B22E4F2647B3}">
      <dgm:prSet phldrT="[文本]" custT="1"/>
      <dgm:spPr/>
      <dgm:t>
        <a:bodyPr/>
        <a:lstStyle/>
        <a:p>
          <a:r>
            <a:rPr lang="zh-CN" altLang="en-US" sz="2800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rPr>
            <a:t>指令：      </a:t>
          </a:r>
          <a:r>
            <a:rPr lang="en-US" altLang="zh-CN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diff,    gradient,   del2</a:t>
          </a:r>
          <a:endParaRPr lang="zh-CN" altLang="en-US" sz="2800" dirty="0" smtClean="0">
            <a:latin typeface="华文楷体" panose="02010600040101010101" pitchFamily="2" charset="-122"/>
            <a:ea typeface="华文楷体" panose="02010600040101010101" pitchFamily="2" charset="-122"/>
          </a:endParaRPr>
        </a:p>
      </dgm:t>
    </dgm:pt>
    <dgm:pt modelId="{2E276EAD-9C14-4B50-9C44-E341D0C94936}" type="parTrans" cxnId="{53515012-582D-4D46-A025-091A33AFC71E}">
      <dgm:prSet/>
      <dgm:spPr/>
      <dgm:t>
        <a:bodyPr/>
        <a:lstStyle/>
        <a:p>
          <a:endParaRPr lang="zh-CN" altLang="en-US"/>
        </a:p>
      </dgm:t>
    </dgm:pt>
    <dgm:pt modelId="{2268D73E-9841-47CC-BF78-F1BE59F3BCD5}" type="sibTrans" cxnId="{53515012-582D-4D46-A025-091A33AFC71E}">
      <dgm:prSet/>
      <dgm:spPr/>
      <dgm:t>
        <a:bodyPr/>
        <a:lstStyle/>
        <a:p>
          <a:endParaRPr lang="zh-CN" altLang="en-US"/>
        </a:p>
      </dgm:t>
    </dgm:pt>
    <dgm:pt modelId="{2935E0DF-70D9-4E4E-AF72-9DFD1AA002D4}">
      <dgm:prSet phldrT="[文本]" custT="1"/>
      <dgm:spPr/>
      <dgm:t>
        <a:bodyPr/>
        <a:lstStyle/>
        <a:p>
          <a:r>
            <a:rPr lang="zh-CN" altLang="en-US" sz="2800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rPr>
            <a:t>公式：</a:t>
          </a:r>
          <a:endParaRPr lang="en-US" altLang="zh-CN" sz="2800" dirty="0" smtClean="0">
            <a:solidFill>
              <a:srgbClr val="FF0000"/>
            </a:solidFill>
            <a:latin typeface="华文楷体" panose="02010600040101010101" pitchFamily="2" charset="-122"/>
            <a:ea typeface="华文楷体" panose="02010600040101010101" pitchFamily="2" charset="-122"/>
          </a:endParaRPr>
        </a:p>
        <a:p>
          <a:r>
            <a:rPr lang="zh-CN" altLang="en-US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矩形，梯形，          辛普生，复合辛普生</a:t>
          </a:r>
        </a:p>
      </dgm:t>
    </dgm:pt>
    <dgm:pt modelId="{401AA6C9-C7D0-4401-81E5-D7382006C962}" type="parTrans" cxnId="{8E178EF9-E56D-4CAE-A585-2FC01EDA33CD}">
      <dgm:prSet/>
      <dgm:spPr/>
      <dgm:t>
        <a:bodyPr/>
        <a:lstStyle/>
        <a:p>
          <a:endParaRPr lang="zh-CN" altLang="en-US"/>
        </a:p>
      </dgm:t>
    </dgm:pt>
    <dgm:pt modelId="{0399B656-D16E-4E00-9D04-4F71A561B5A5}" type="sibTrans" cxnId="{8E178EF9-E56D-4CAE-A585-2FC01EDA33CD}">
      <dgm:prSet/>
      <dgm:spPr/>
      <dgm:t>
        <a:bodyPr/>
        <a:lstStyle/>
        <a:p>
          <a:endParaRPr lang="zh-CN" altLang="en-US"/>
        </a:p>
      </dgm:t>
    </dgm:pt>
    <dgm:pt modelId="{3D2BB5F4-52AF-4F9C-9838-F4130A0F3A98}">
      <dgm:prSet phldrT="[文本]" custT="1"/>
      <dgm:spPr/>
      <dgm:t>
        <a:bodyPr/>
        <a:lstStyle/>
        <a:p>
          <a:r>
            <a:rPr lang="zh-CN" altLang="en-US" sz="2800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rPr>
            <a:t>指令</a:t>
          </a:r>
          <a:r>
            <a:rPr lang="en-US" altLang="zh-CN" sz="2800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rPr>
            <a:t>:     </a:t>
          </a:r>
          <a:r>
            <a:rPr lang="en-US" altLang="zh-CN" sz="2800" dirty="0" err="1" smtClean="0">
              <a:latin typeface="华文楷体" panose="02010600040101010101" pitchFamily="2" charset="-122"/>
              <a:ea typeface="华文楷体" panose="02010600040101010101" pitchFamily="2" charset="-122"/>
            </a:rPr>
            <a:t>trapz</a:t>
          </a:r>
          <a:r>
            <a:rPr lang="en-US" altLang="zh-CN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 (</a:t>
          </a:r>
          <a:r>
            <a:rPr lang="zh-CN" altLang="en-US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数据积分</a:t>
          </a:r>
          <a:r>
            <a:rPr lang="en-US" altLang="zh-CN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)           quad,    </a:t>
          </a:r>
          <a:r>
            <a:rPr lang="en-US" altLang="zh-CN" sz="2800" dirty="0" err="1" smtClean="0">
              <a:latin typeface="华文楷体" panose="02010600040101010101" pitchFamily="2" charset="-122"/>
              <a:ea typeface="华文楷体" panose="02010600040101010101" pitchFamily="2" charset="-122"/>
            </a:rPr>
            <a:t>quadl</a:t>
          </a:r>
          <a:r>
            <a:rPr lang="zh-CN" altLang="en-US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（函数积分）</a:t>
          </a:r>
          <a:r>
            <a:rPr lang="en-US" altLang="zh-CN" sz="2800" dirty="0" err="1" smtClean="0">
              <a:latin typeface="华文楷体" panose="02010600040101010101" pitchFamily="2" charset="-122"/>
              <a:ea typeface="华文楷体" panose="02010600040101010101" pitchFamily="2" charset="-122"/>
            </a:rPr>
            <a:t>dblquad</a:t>
          </a:r>
          <a:r>
            <a:rPr lang="zh-CN" altLang="en-US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（二重函数积分）</a:t>
          </a:r>
          <a:r>
            <a:rPr lang="en-US" altLang="zh-CN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 </a:t>
          </a:r>
          <a:r>
            <a:rPr lang="en-US" altLang="zh-CN" sz="2800" smtClean="0">
              <a:latin typeface="华文楷体" panose="02010600040101010101" pitchFamily="2" charset="-122"/>
              <a:ea typeface="华文楷体" panose="02010600040101010101" pitchFamily="2" charset="-122"/>
            </a:rPr>
            <a:t>triplequad</a:t>
          </a:r>
          <a:r>
            <a:rPr lang="en-US" altLang="zh-CN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 (</a:t>
          </a:r>
          <a:r>
            <a:rPr lang="zh-CN" altLang="en-US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三重函数积分）</a:t>
          </a:r>
          <a:r>
            <a:rPr lang="en-US" altLang="zh-CN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      </a:t>
          </a:r>
        </a:p>
        <a:p>
          <a:r>
            <a:rPr lang="zh-CN" altLang="en-US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符号指令</a:t>
          </a:r>
          <a:r>
            <a:rPr lang="en-US" altLang="zh-CN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(</a:t>
          </a:r>
          <a:r>
            <a:rPr lang="zh-CN" altLang="en-US" sz="28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符号函数积分）</a:t>
          </a:r>
          <a:endParaRPr lang="en-US" altLang="zh-CN" sz="2800" dirty="0" smtClean="0">
            <a:latin typeface="华文楷体" panose="02010600040101010101" pitchFamily="2" charset="-122"/>
            <a:ea typeface="华文楷体" panose="02010600040101010101" pitchFamily="2" charset="-122"/>
          </a:endParaRPr>
        </a:p>
        <a:p>
          <a:endParaRPr lang="zh-CN" altLang="en-US" sz="1500" dirty="0"/>
        </a:p>
      </dgm:t>
    </dgm:pt>
    <dgm:pt modelId="{8029BC67-FA08-4F6B-8F74-60278E1B9C1D}" type="parTrans" cxnId="{710801ED-F36D-4A6E-9965-13634D5F4C4F}">
      <dgm:prSet/>
      <dgm:spPr/>
      <dgm:t>
        <a:bodyPr/>
        <a:lstStyle/>
        <a:p>
          <a:endParaRPr lang="zh-CN" altLang="en-US"/>
        </a:p>
      </dgm:t>
    </dgm:pt>
    <dgm:pt modelId="{C3AEBE30-5BF9-4D9A-934D-8E930632CA31}" type="sibTrans" cxnId="{710801ED-F36D-4A6E-9965-13634D5F4C4F}">
      <dgm:prSet/>
      <dgm:spPr/>
      <dgm:t>
        <a:bodyPr/>
        <a:lstStyle/>
        <a:p>
          <a:endParaRPr lang="zh-CN" altLang="en-US"/>
        </a:p>
      </dgm:t>
    </dgm:pt>
    <dgm:pt modelId="{279952C3-5B54-44BB-A84A-E555D09598EB}">
      <dgm:prSet phldrT="[文本]" custT="1"/>
      <dgm:spPr/>
      <dgm:t>
        <a:bodyPr/>
        <a:lstStyle/>
        <a:p>
          <a:r>
            <a:rPr lang="zh-CN" altLang="en-US" sz="2800" b="1" dirty="0" smtClean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rPr>
            <a:t>数值积分</a:t>
          </a:r>
        </a:p>
      </dgm:t>
    </dgm:pt>
    <dgm:pt modelId="{C118E43B-4F99-4A23-97BA-D80467E85236}" type="sibTrans" cxnId="{208D4906-E819-49FB-8990-7FFE25581EE5}">
      <dgm:prSet/>
      <dgm:spPr/>
      <dgm:t>
        <a:bodyPr/>
        <a:lstStyle/>
        <a:p>
          <a:endParaRPr lang="zh-CN" altLang="en-US"/>
        </a:p>
      </dgm:t>
    </dgm:pt>
    <dgm:pt modelId="{D3BA1B64-0A94-4EAF-AAFB-BC317C4B1632}" type="parTrans" cxnId="{208D4906-E819-49FB-8990-7FFE25581EE5}">
      <dgm:prSet/>
      <dgm:spPr/>
      <dgm:t>
        <a:bodyPr/>
        <a:lstStyle/>
        <a:p>
          <a:endParaRPr lang="zh-CN" altLang="en-US"/>
        </a:p>
      </dgm:t>
    </dgm:pt>
    <dgm:pt modelId="{227C790C-774E-4459-A0EB-2FCE665EC052}" type="pres">
      <dgm:prSet presAssocID="{9CE5E6C0-47F3-41B8-BC7F-D5B31A00E2D6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A460B126-5678-44A0-9925-265227FD1C83}" type="pres">
      <dgm:prSet presAssocID="{2DC3118F-24E6-4281-8AB6-E48C93359D29}" presName="posSpace" presStyleCnt="0"/>
      <dgm:spPr/>
    </dgm:pt>
    <dgm:pt modelId="{82B520E7-1F0A-40BA-BD38-1A470D69FB00}" type="pres">
      <dgm:prSet presAssocID="{2DC3118F-24E6-4281-8AB6-E48C93359D29}" presName="vertFlow" presStyleCnt="0"/>
      <dgm:spPr/>
    </dgm:pt>
    <dgm:pt modelId="{A9FAED13-6BCB-41A0-8A26-1DF9BC9E82D8}" type="pres">
      <dgm:prSet presAssocID="{2DC3118F-24E6-4281-8AB6-E48C93359D29}" presName="topSpace" presStyleCnt="0"/>
      <dgm:spPr/>
    </dgm:pt>
    <dgm:pt modelId="{9F9824CD-3194-4E96-A119-25A7BE0C9E96}" type="pres">
      <dgm:prSet presAssocID="{2DC3118F-24E6-4281-8AB6-E48C93359D29}" presName="firstComp" presStyleCnt="0"/>
      <dgm:spPr/>
    </dgm:pt>
    <dgm:pt modelId="{1877E0FC-E41D-4686-8D25-BC370DBFF2EA}" type="pres">
      <dgm:prSet presAssocID="{2DC3118F-24E6-4281-8AB6-E48C93359D29}" presName="firstChild" presStyleLbl="bgAccFollowNode1" presStyleIdx="0" presStyleCnt="4" custScaleX="119653" custScaleY="277569" custLinFactNeighborX="206" custLinFactNeighborY="-15861"/>
      <dgm:spPr/>
      <dgm:t>
        <a:bodyPr/>
        <a:lstStyle/>
        <a:p>
          <a:endParaRPr lang="zh-CN" altLang="en-US"/>
        </a:p>
      </dgm:t>
    </dgm:pt>
    <dgm:pt modelId="{D67B6C51-048B-4E97-8E43-E145F0F9AF6A}" type="pres">
      <dgm:prSet presAssocID="{2DC3118F-24E6-4281-8AB6-E48C93359D29}" presName="firstChildTx" presStyleLbl="b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99B5AFF-5533-4FD3-BB61-BE9E6E393584}" type="pres">
      <dgm:prSet presAssocID="{D561299B-70BA-49A3-9DAC-B22E4F2647B3}" presName="comp" presStyleCnt="0"/>
      <dgm:spPr/>
    </dgm:pt>
    <dgm:pt modelId="{9DEBFA23-48F7-4EB2-A20C-963847365D5F}" type="pres">
      <dgm:prSet presAssocID="{D561299B-70BA-49A3-9DAC-B22E4F2647B3}" presName="child" presStyleLbl="bgAccFollowNode1" presStyleIdx="1" presStyleCnt="4" custScaleX="125316" custScaleY="216014" custLinFactNeighborX="3039" custLinFactNeighborY="14021"/>
      <dgm:spPr/>
      <dgm:t>
        <a:bodyPr/>
        <a:lstStyle/>
        <a:p>
          <a:endParaRPr lang="zh-CN" altLang="en-US"/>
        </a:p>
      </dgm:t>
    </dgm:pt>
    <dgm:pt modelId="{01FA28E1-47BD-4107-9BD8-0CD5FCFDF0B5}" type="pres">
      <dgm:prSet presAssocID="{D561299B-70BA-49A3-9DAC-B22E4F2647B3}" presName="childTx" presStyleLbl="b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1D73F3B-2E57-4ABC-93EF-41225BCC5ABD}" type="pres">
      <dgm:prSet presAssocID="{2DC3118F-24E6-4281-8AB6-E48C93359D29}" presName="negSpace" presStyleCnt="0"/>
      <dgm:spPr/>
    </dgm:pt>
    <dgm:pt modelId="{9FBF3F7C-6355-48B3-8EB7-BF2FA17E08BD}" type="pres">
      <dgm:prSet presAssocID="{2DC3118F-24E6-4281-8AB6-E48C93359D29}" presName="circle" presStyleLbl="node1" presStyleIdx="0" presStyleCnt="2" custScaleX="81230" custScaleY="242258" custLinFactX="-44409" custLinFactNeighborX="-100000" custLinFactNeighborY="-154"/>
      <dgm:spPr/>
      <dgm:t>
        <a:bodyPr/>
        <a:lstStyle/>
        <a:p>
          <a:endParaRPr lang="zh-CN" altLang="en-US"/>
        </a:p>
      </dgm:t>
    </dgm:pt>
    <dgm:pt modelId="{6B9F5112-E382-4651-96C8-1D354F8C1FF9}" type="pres">
      <dgm:prSet presAssocID="{8AEBC2F9-CEC6-4A12-B870-964E876CA0F8}" presName="transSpace" presStyleCnt="0"/>
      <dgm:spPr/>
    </dgm:pt>
    <dgm:pt modelId="{25DF4028-A5D5-4AF1-AB7A-573FF10476E8}" type="pres">
      <dgm:prSet presAssocID="{279952C3-5B54-44BB-A84A-E555D09598EB}" presName="posSpace" presStyleCnt="0"/>
      <dgm:spPr/>
    </dgm:pt>
    <dgm:pt modelId="{D740AFDC-0E44-40B7-B323-9FEBF63824DE}" type="pres">
      <dgm:prSet presAssocID="{279952C3-5B54-44BB-A84A-E555D09598EB}" presName="vertFlow" presStyleCnt="0"/>
      <dgm:spPr/>
    </dgm:pt>
    <dgm:pt modelId="{1687B0A0-A660-4881-BEC8-A65245BD351B}" type="pres">
      <dgm:prSet presAssocID="{279952C3-5B54-44BB-A84A-E555D09598EB}" presName="topSpace" presStyleCnt="0"/>
      <dgm:spPr/>
    </dgm:pt>
    <dgm:pt modelId="{1185DCFF-3E96-471C-8626-30FCBADBCFC6}" type="pres">
      <dgm:prSet presAssocID="{279952C3-5B54-44BB-A84A-E555D09598EB}" presName="firstComp" presStyleCnt="0"/>
      <dgm:spPr/>
    </dgm:pt>
    <dgm:pt modelId="{CC6B9A8B-766E-4C4A-8A8E-85E66D7BDB70}" type="pres">
      <dgm:prSet presAssocID="{279952C3-5B54-44BB-A84A-E555D09598EB}" presName="firstChild" presStyleLbl="bgAccFollowNode1" presStyleIdx="2" presStyleCnt="4" custScaleX="160993" custScaleY="221220" custLinFactNeighborX="25378" custLinFactNeighborY="-23952"/>
      <dgm:spPr/>
      <dgm:t>
        <a:bodyPr/>
        <a:lstStyle/>
        <a:p>
          <a:endParaRPr lang="zh-CN" altLang="en-US"/>
        </a:p>
      </dgm:t>
    </dgm:pt>
    <dgm:pt modelId="{91B13F3A-2D51-44EB-ACFC-3202F0E376CB}" type="pres">
      <dgm:prSet presAssocID="{279952C3-5B54-44BB-A84A-E555D09598EB}" presName="firstChildTx" presStyleLbl="b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C8D6A0F-746E-499A-890F-4D0881A5E611}" type="pres">
      <dgm:prSet presAssocID="{3D2BB5F4-52AF-4F9C-9838-F4130A0F3A98}" presName="comp" presStyleCnt="0"/>
      <dgm:spPr/>
    </dgm:pt>
    <dgm:pt modelId="{BCBC12E5-D153-43FD-9F41-0EB9A0C8B442}" type="pres">
      <dgm:prSet presAssocID="{3D2BB5F4-52AF-4F9C-9838-F4130A0F3A98}" presName="child" presStyleLbl="bgAccFollowNode1" presStyleIdx="3" presStyleCnt="4" custScaleX="191659" custScaleY="304850" custLinFactNeighborX="70" custLinFactNeighborY="-10538"/>
      <dgm:spPr/>
      <dgm:t>
        <a:bodyPr/>
        <a:lstStyle/>
        <a:p>
          <a:endParaRPr lang="zh-CN" altLang="en-US"/>
        </a:p>
      </dgm:t>
    </dgm:pt>
    <dgm:pt modelId="{2645679A-79E0-4078-8556-F8FD524B9AC8}" type="pres">
      <dgm:prSet presAssocID="{3D2BB5F4-52AF-4F9C-9838-F4130A0F3A98}" presName="childTx" presStyleLbl="b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94DCFA3-160C-4FB9-9A15-1125AA8DFA8A}" type="pres">
      <dgm:prSet presAssocID="{279952C3-5B54-44BB-A84A-E555D09598EB}" presName="negSpace" presStyleCnt="0"/>
      <dgm:spPr/>
    </dgm:pt>
    <dgm:pt modelId="{F12882CA-4775-4841-B527-98AB4E80A287}" type="pres">
      <dgm:prSet presAssocID="{279952C3-5B54-44BB-A84A-E555D09598EB}" presName="circle" presStyleLbl="node1" presStyleIdx="1" presStyleCnt="2" custFlipHor="1" custScaleX="96733" custScaleY="209879" custLinFactX="-100000" custLinFactNeighborX="-103037" custLinFactNeighborY="16036"/>
      <dgm:spPr/>
      <dgm:t>
        <a:bodyPr/>
        <a:lstStyle/>
        <a:p>
          <a:endParaRPr lang="zh-CN" altLang="en-US"/>
        </a:p>
      </dgm:t>
    </dgm:pt>
  </dgm:ptLst>
  <dgm:cxnLst>
    <dgm:cxn modelId="{710801ED-F36D-4A6E-9965-13634D5F4C4F}" srcId="{279952C3-5B54-44BB-A84A-E555D09598EB}" destId="{3D2BB5F4-52AF-4F9C-9838-F4130A0F3A98}" srcOrd="1" destOrd="0" parTransId="{8029BC67-FA08-4F6B-8F74-60278E1B9C1D}" sibTransId="{C3AEBE30-5BF9-4D9A-934D-8E930632CA31}"/>
    <dgm:cxn modelId="{2E0C9419-0D74-4E80-BBE9-38E9D3CACB33}" srcId="{9CE5E6C0-47F3-41B8-BC7F-D5B31A00E2D6}" destId="{2DC3118F-24E6-4281-8AB6-E48C93359D29}" srcOrd="0" destOrd="0" parTransId="{F1EE1463-4196-460A-877F-E33A7775CBE5}" sibTransId="{8AEBC2F9-CEC6-4A12-B870-964E876CA0F8}"/>
    <dgm:cxn modelId="{A891527B-1D75-4E05-8136-9FF99C30805E}" type="presOf" srcId="{9CE5E6C0-47F3-41B8-BC7F-D5B31A00E2D6}" destId="{227C790C-774E-4459-A0EB-2FCE665EC052}" srcOrd="0" destOrd="0" presId="urn:microsoft.com/office/officeart/2005/8/layout/hList9#1"/>
    <dgm:cxn modelId="{786F792A-7E8E-4B98-A46F-BFB7F707F598}" type="presOf" srcId="{26192A7F-2709-4E65-9B40-A991565C20A8}" destId="{D67B6C51-048B-4E97-8E43-E145F0F9AF6A}" srcOrd="1" destOrd="0" presId="urn:microsoft.com/office/officeart/2005/8/layout/hList9#1"/>
    <dgm:cxn modelId="{2DF34F79-E79B-4D75-AFDA-3AC3C655D876}" type="presOf" srcId="{2935E0DF-70D9-4E4E-AF72-9DFD1AA002D4}" destId="{91B13F3A-2D51-44EB-ACFC-3202F0E376CB}" srcOrd="1" destOrd="0" presId="urn:microsoft.com/office/officeart/2005/8/layout/hList9#1"/>
    <dgm:cxn modelId="{0A3AF866-3AE5-4400-B06E-6266AF91B3E1}" srcId="{2DC3118F-24E6-4281-8AB6-E48C93359D29}" destId="{26192A7F-2709-4E65-9B40-A991565C20A8}" srcOrd="0" destOrd="0" parTransId="{4541F0B3-6F6C-48B1-8A6B-446955C3E6B0}" sibTransId="{7D687960-C44C-43F3-91FE-45E57F92EE85}"/>
    <dgm:cxn modelId="{26552FFB-0201-48B6-9D3D-EC2B33BBDC92}" type="presOf" srcId="{2935E0DF-70D9-4E4E-AF72-9DFD1AA002D4}" destId="{CC6B9A8B-766E-4C4A-8A8E-85E66D7BDB70}" srcOrd="0" destOrd="0" presId="urn:microsoft.com/office/officeart/2005/8/layout/hList9#1"/>
    <dgm:cxn modelId="{FC1809F0-B3E8-48FD-B971-97F6C7F167A6}" type="presOf" srcId="{3D2BB5F4-52AF-4F9C-9838-F4130A0F3A98}" destId="{BCBC12E5-D153-43FD-9F41-0EB9A0C8B442}" srcOrd="0" destOrd="0" presId="urn:microsoft.com/office/officeart/2005/8/layout/hList9#1"/>
    <dgm:cxn modelId="{CEDB40EE-8046-474F-B2C7-9F959998D9C3}" type="presOf" srcId="{D561299B-70BA-49A3-9DAC-B22E4F2647B3}" destId="{9DEBFA23-48F7-4EB2-A20C-963847365D5F}" srcOrd="0" destOrd="0" presId="urn:microsoft.com/office/officeart/2005/8/layout/hList9#1"/>
    <dgm:cxn modelId="{168517BD-A547-4FEA-9064-6DCB7ED28018}" type="presOf" srcId="{2DC3118F-24E6-4281-8AB6-E48C93359D29}" destId="{9FBF3F7C-6355-48B3-8EB7-BF2FA17E08BD}" srcOrd="0" destOrd="0" presId="urn:microsoft.com/office/officeart/2005/8/layout/hList9#1"/>
    <dgm:cxn modelId="{CA7C3C41-4238-4335-B3BD-093587C5D619}" type="presOf" srcId="{D561299B-70BA-49A3-9DAC-B22E4F2647B3}" destId="{01FA28E1-47BD-4107-9BD8-0CD5FCFDF0B5}" srcOrd="1" destOrd="0" presId="urn:microsoft.com/office/officeart/2005/8/layout/hList9#1"/>
    <dgm:cxn modelId="{AF2D54D8-1C57-441E-BA1E-4280CD9EC66F}" type="presOf" srcId="{279952C3-5B54-44BB-A84A-E555D09598EB}" destId="{F12882CA-4775-4841-B527-98AB4E80A287}" srcOrd="0" destOrd="0" presId="urn:microsoft.com/office/officeart/2005/8/layout/hList9#1"/>
    <dgm:cxn modelId="{53515012-582D-4D46-A025-091A33AFC71E}" srcId="{2DC3118F-24E6-4281-8AB6-E48C93359D29}" destId="{D561299B-70BA-49A3-9DAC-B22E4F2647B3}" srcOrd="1" destOrd="0" parTransId="{2E276EAD-9C14-4B50-9C44-E341D0C94936}" sibTransId="{2268D73E-9841-47CC-BF78-F1BE59F3BCD5}"/>
    <dgm:cxn modelId="{208D4906-E819-49FB-8990-7FFE25581EE5}" srcId="{9CE5E6C0-47F3-41B8-BC7F-D5B31A00E2D6}" destId="{279952C3-5B54-44BB-A84A-E555D09598EB}" srcOrd="1" destOrd="0" parTransId="{D3BA1B64-0A94-4EAF-AAFB-BC317C4B1632}" sibTransId="{C118E43B-4F99-4A23-97BA-D80467E85236}"/>
    <dgm:cxn modelId="{8E178EF9-E56D-4CAE-A585-2FC01EDA33CD}" srcId="{279952C3-5B54-44BB-A84A-E555D09598EB}" destId="{2935E0DF-70D9-4E4E-AF72-9DFD1AA002D4}" srcOrd="0" destOrd="0" parTransId="{401AA6C9-C7D0-4401-81E5-D7382006C962}" sibTransId="{0399B656-D16E-4E00-9D04-4F71A561B5A5}"/>
    <dgm:cxn modelId="{F8410C44-0A92-4668-AC57-C9C041BEE354}" type="presOf" srcId="{3D2BB5F4-52AF-4F9C-9838-F4130A0F3A98}" destId="{2645679A-79E0-4078-8556-F8FD524B9AC8}" srcOrd="1" destOrd="0" presId="urn:microsoft.com/office/officeart/2005/8/layout/hList9#1"/>
    <dgm:cxn modelId="{7F485957-D13F-43E1-9780-C7EF061A8E59}" type="presOf" srcId="{26192A7F-2709-4E65-9B40-A991565C20A8}" destId="{1877E0FC-E41D-4686-8D25-BC370DBFF2EA}" srcOrd="0" destOrd="0" presId="urn:microsoft.com/office/officeart/2005/8/layout/hList9#1"/>
    <dgm:cxn modelId="{43627242-DB49-4E0B-815B-D21D61A3FD63}" type="presParOf" srcId="{227C790C-774E-4459-A0EB-2FCE665EC052}" destId="{A460B126-5678-44A0-9925-265227FD1C83}" srcOrd="0" destOrd="0" presId="urn:microsoft.com/office/officeart/2005/8/layout/hList9#1"/>
    <dgm:cxn modelId="{CAB4048E-B5EE-4526-8586-CBC6ADC5CB8E}" type="presParOf" srcId="{227C790C-774E-4459-A0EB-2FCE665EC052}" destId="{82B520E7-1F0A-40BA-BD38-1A470D69FB00}" srcOrd="1" destOrd="0" presId="urn:microsoft.com/office/officeart/2005/8/layout/hList9#1"/>
    <dgm:cxn modelId="{79BE7229-EBA4-4D74-9AE4-1BE694EFEC11}" type="presParOf" srcId="{82B520E7-1F0A-40BA-BD38-1A470D69FB00}" destId="{A9FAED13-6BCB-41A0-8A26-1DF9BC9E82D8}" srcOrd="0" destOrd="0" presId="urn:microsoft.com/office/officeart/2005/8/layout/hList9#1"/>
    <dgm:cxn modelId="{48DAEBCC-3D21-4B36-B7B1-ABCD46355A47}" type="presParOf" srcId="{82B520E7-1F0A-40BA-BD38-1A470D69FB00}" destId="{9F9824CD-3194-4E96-A119-25A7BE0C9E96}" srcOrd="1" destOrd="0" presId="urn:microsoft.com/office/officeart/2005/8/layout/hList9#1"/>
    <dgm:cxn modelId="{DA7997C8-F31A-4142-8595-748DEBD0E250}" type="presParOf" srcId="{9F9824CD-3194-4E96-A119-25A7BE0C9E96}" destId="{1877E0FC-E41D-4686-8D25-BC370DBFF2EA}" srcOrd="0" destOrd="0" presId="urn:microsoft.com/office/officeart/2005/8/layout/hList9#1"/>
    <dgm:cxn modelId="{DC923BA7-7DAD-4494-ACD3-947618D1638E}" type="presParOf" srcId="{9F9824CD-3194-4E96-A119-25A7BE0C9E96}" destId="{D67B6C51-048B-4E97-8E43-E145F0F9AF6A}" srcOrd="1" destOrd="0" presId="urn:microsoft.com/office/officeart/2005/8/layout/hList9#1"/>
    <dgm:cxn modelId="{994CBE67-D0AF-4779-AB60-01E9E065F3A1}" type="presParOf" srcId="{82B520E7-1F0A-40BA-BD38-1A470D69FB00}" destId="{D99B5AFF-5533-4FD3-BB61-BE9E6E393584}" srcOrd="2" destOrd="0" presId="urn:microsoft.com/office/officeart/2005/8/layout/hList9#1"/>
    <dgm:cxn modelId="{4C3C914E-967F-4071-B0A4-52C8C0DC5591}" type="presParOf" srcId="{D99B5AFF-5533-4FD3-BB61-BE9E6E393584}" destId="{9DEBFA23-48F7-4EB2-A20C-963847365D5F}" srcOrd="0" destOrd="0" presId="urn:microsoft.com/office/officeart/2005/8/layout/hList9#1"/>
    <dgm:cxn modelId="{CEAC28ED-7B16-4F0A-8EC8-68A81F1F4C73}" type="presParOf" srcId="{D99B5AFF-5533-4FD3-BB61-BE9E6E393584}" destId="{01FA28E1-47BD-4107-9BD8-0CD5FCFDF0B5}" srcOrd="1" destOrd="0" presId="urn:microsoft.com/office/officeart/2005/8/layout/hList9#1"/>
    <dgm:cxn modelId="{0319AAB8-BA39-44E9-B8D2-32050DF9EA59}" type="presParOf" srcId="{227C790C-774E-4459-A0EB-2FCE665EC052}" destId="{F1D73F3B-2E57-4ABC-93EF-41225BCC5ABD}" srcOrd="2" destOrd="0" presId="urn:microsoft.com/office/officeart/2005/8/layout/hList9#1"/>
    <dgm:cxn modelId="{5D682F68-3CA2-4ED4-957C-BDEF8FE441C9}" type="presParOf" srcId="{227C790C-774E-4459-A0EB-2FCE665EC052}" destId="{9FBF3F7C-6355-48B3-8EB7-BF2FA17E08BD}" srcOrd="3" destOrd="0" presId="urn:microsoft.com/office/officeart/2005/8/layout/hList9#1"/>
    <dgm:cxn modelId="{5C7122E3-2E14-424A-BCA3-72BFCA305732}" type="presParOf" srcId="{227C790C-774E-4459-A0EB-2FCE665EC052}" destId="{6B9F5112-E382-4651-96C8-1D354F8C1FF9}" srcOrd="4" destOrd="0" presId="urn:microsoft.com/office/officeart/2005/8/layout/hList9#1"/>
    <dgm:cxn modelId="{DB4EAE1F-F90D-4879-9064-0DE62CD414BA}" type="presParOf" srcId="{227C790C-774E-4459-A0EB-2FCE665EC052}" destId="{25DF4028-A5D5-4AF1-AB7A-573FF10476E8}" srcOrd="5" destOrd="0" presId="urn:microsoft.com/office/officeart/2005/8/layout/hList9#1"/>
    <dgm:cxn modelId="{F2B65C18-D8CF-4D01-815E-F61B157EBF8B}" type="presParOf" srcId="{227C790C-774E-4459-A0EB-2FCE665EC052}" destId="{D740AFDC-0E44-40B7-B323-9FEBF63824DE}" srcOrd="6" destOrd="0" presId="urn:microsoft.com/office/officeart/2005/8/layout/hList9#1"/>
    <dgm:cxn modelId="{6987130D-4731-4089-83D4-AC7779604685}" type="presParOf" srcId="{D740AFDC-0E44-40B7-B323-9FEBF63824DE}" destId="{1687B0A0-A660-4881-BEC8-A65245BD351B}" srcOrd="0" destOrd="0" presId="urn:microsoft.com/office/officeart/2005/8/layout/hList9#1"/>
    <dgm:cxn modelId="{2BE31A6E-E5FD-4FA8-B5CC-738DD3B614A4}" type="presParOf" srcId="{D740AFDC-0E44-40B7-B323-9FEBF63824DE}" destId="{1185DCFF-3E96-471C-8626-30FCBADBCFC6}" srcOrd="1" destOrd="0" presId="urn:microsoft.com/office/officeart/2005/8/layout/hList9#1"/>
    <dgm:cxn modelId="{2066C612-CE96-43E2-BBB9-088580C64E53}" type="presParOf" srcId="{1185DCFF-3E96-471C-8626-30FCBADBCFC6}" destId="{CC6B9A8B-766E-4C4A-8A8E-85E66D7BDB70}" srcOrd="0" destOrd="0" presId="urn:microsoft.com/office/officeart/2005/8/layout/hList9#1"/>
    <dgm:cxn modelId="{03A223D2-0D04-44E2-A577-D25E4FF8D886}" type="presParOf" srcId="{1185DCFF-3E96-471C-8626-30FCBADBCFC6}" destId="{91B13F3A-2D51-44EB-ACFC-3202F0E376CB}" srcOrd="1" destOrd="0" presId="urn:microsoft.com/office/officeart/2005/8/layout/hList9#1"/>
    <dgm:cxn modelId="{2EE68B88-0730-450C-AF43-E3DE34FCC024}" type="presParOf" srcId="{D740AFDC-0E44-40B7-B323-9FEBF63824DE}" destId="{AC8D6A0F-746E-499A-890F-4D0881A5E611}" srcOrd="2" destOrd="0" presId="urn:microsoft.com/office/officeart/2005/8/layout/hList9#1"/>
    <dgm:cxn modelId="{A6DCB0F6-6358-4C50-B2B7-F8D6D5C61845}" type="presParOf" srcId="{AC8D6A0F-746E-499A-890F-4D0881A5E611}" destId="{BCBC12E5-D153-43FD-9F41-0EB9A0C8B442}" srcOrd="0" destOrd="0" presId="urn:microsoft.com/office/officeart/2005/8/layout/hList9#1"/>
    <dgm:cxn modelId="{AE22C451-B46A-40D0-9DF0-E0968C507F3A}" type="presParOf" srcId="{AC8D6A0F-746E-499A-890F-4D0881A5E611}" destId="{2645679A-79E0-4078-8556-F8FD524B9AC8}" srcOrd="1" destOrd="0" presId="urn:microsoft.com/office/officeart/2005/8/layout/hList9#1"/>
    <dgm:cxn modelId="{831ACDA1-D344-4125-96A6-15214E7D187A}" type="presParOf" srcId="{227C790C-774E-4459-A0EB-2FCE665EC052}" destId="{394DCFA3-160C-4FB9-9A15-1125AA8DFA8A}" srcOrd="7" destOrd="0" presId="urn:microsoft.com/office/officeart/2005/8/layout/hList9#1"/>
    <dgm:cxn modelId="{D678F8B0-85B2-496C-BF36-9F61599A74F4}" type="presParOf" srcId="{227C790C-774E-4459-A0EB-2FCE665EC052}" destId="{F12882CA-4775-4841-B527-98AB4E80A287}" srcOrd="8" destOrd="0" presId="urn:microsoft.com/office/officeart/2005/8/layout/hList9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77E0FC-E41D-4686-8D25-BC370DBFF2EA}">
      <dsp:nvSpPr>
        <dsp:cNvPr id="0" name=""/>
        <dsp:cNvSpPr/>
      </dsp:nvSpPr>
      <dsp:spPr>
        <a:xfrm>
          <a:off x="681913" y="214315"/>
          <a:ext cx="1984911" cy="2450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9136" rIns="199136" bIns="199136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rPr>
            <a:t>公式：</a:t>
          </a:r>
          <a:endParaRPr lang="en-US" altLang="zh-CN" sz="2800" kern="1200" dirty="0" smtClean="0">
            <a:solidFill>
              <a:srgbClr val="FF0000"/>
            </a:solidFill>
            <a:latin typeface="华文楷体" panose="02010600040101010101" pitchFamily="2" charset="-122"/>
            <a:ea typeface="华文楷体" panose="02010600040101010101" pitchFamily="2" charset="-122"/>
          </a:endParaRPr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前差，  后差，  中心差分，   二阶导数</a:t>
          </a:r>
          <a:endParaRPr lang="zh-CN" altLang="en-US" sz="2800" kern="1200" dirty="0">
            <a:latin typeface="华文楷体" panose="02010600040101010101" pitchFamily="2" charset="-122"/>
            <a:ea typeface="华文楷体" panose="02010600040101010101" pitchFamily="2" charset="-122"/>
          </a:endParaRPr>
        </a:p>
      </dsp:txBody>
      <dsp:txXfrm>
        <a:off x="999499" y="214315"/>
        <a:ext cx="1667325" cy="2450800"/>
      </dsp:txXfrm>
    </dsp:sp>
    <dsp:sp modelId="{9DEBFA23-48F7-4EB2-A20C-963847365D5F}">
      <dsp:nvSpPr>
        <dsp:cNvPr id="0" name=""/>
        <dsp:cNvSpPr/>
      </dsp:nvSpPr>
      <dsp:spPr>
        <a:xfrm>
          <a:off x="681938" y="2928958"/>
          <a:ext cx="2078854" cy="19072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9136" rIns="199136" bIns="199136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rPr>
            <a:t>指令：      </a:t>
          </a:r>
          <a:r>
            <a:rPr lang="en-US" altLang="zh-CN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diff,    gradient,   del2</a:t>
          </a:r>
          <a:endParaRPr lang="zh-CN" altLang="en-US" sz="2800" kern="1200" dirty="0" smtClean="0">
            <a:latin typeface="华文楷体" panose="02010600040101010101" pitchFamily="2" charset="-122"/>
            <a:ea typeface="华文楷体" panose="02010600040101010101" pitchFamily="2" charset="-122"/>
          </a:endParaRPr>
        </a:p>
      </dsp:txBody>
      <dsp:txXfrm>
        <a:off x="1014554" y="2928958"/>
        <a:ext cx="1746238" cy="1907299"/>
      </dsp:txXfrm>
    </dsp:sp>
    <dsp:sp modelId="{9FBF3F7C-6355-48B3-8EB7-BF2FA17E08BD}">
      <dsp:nvSpPr>
        <dsp:cNvPr id="0" name=""/>
        <dsp:cNvSpPr/>
      </dsp:nvSpPr>
      <dsp:spPr>
        <a:xfrm>
          <a:off x="0" y="0"/>
          <a:ext cx="716863" cy="21379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rPr>
            <a:t>数值微分</a:t>
          </a:r>
          <a:endParaRPr lang="zh-CN" altLang="en-US" sz="2800" b="1" kern="1200" dirty="0">
            <a:solidFill>
              <a:schemeClr val="bg1"/>
            </a:solidFill>
            <a:latin typeface="华文细黑" panose="02010600040101010101" pitchFamily="2" charset="-122"/>
            <a:ea typeface="华文细黑" panose="02010600040101010101" pitchFamily="2" charset="-122"/>
          </a:endParaRPr>
        </a:p>
      </dsp:txBody>
      <dsp:txXfrm>
        <a:off x="104982" y="313096"/>
        <a:ext cx="506899" cy="1511760"/>
      </dsp:txXfrm>
    </dsp:sp>
    <dsp:sp modelId="{CC6B9A8B-766E-4C4A-8A8E-85E66D7BDB70}">
      <dsp:nvSpPr>
        <dsp:cNvPr id="0" name=""/>
        <dsp:cNvSpPr/>
      </dsp:nvSpPr>
      <dsp:spPr>
        <a:xfrm>
          <a:off x="4130790" y="142875"/>
          <a:ext cx="4084579" cy="19532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9136" rIns="199136" bIns="199136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rPr>
            <a:t>公式：</a:t>
          </a:r>
          <a:endParaRPr lang="en-US" altLang="zh-CN" sz="2800" kern="1200" dirty="0" smtClean="0">
            <a:solidFill>
              <a:srgbClr val="FF0000"/>
            </a:solidFill>
            <a:latin typeface="华文楷体" panose="02010600040101010101" pitchFamily="2" charset="-122"/>
            <a:ea typeface="华文楷体" panose="02010600040101010101" pitchFamily="2" charset="-122"/>
          </a:endParaRPr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矩形，梯形，          辛普生，复合辛普生</a:t>
          </a:r>
        </a:p>
      </dsp:txBody>
      <dsp:txXfrm>
        <a:off x="4784323" y="142875"/>
        <a:ext cx="3431046" cy="1953265"/>
      </dsp:txXfrm>
    </dsp:sp>
    <dsp:sp modelId="{BCBC12E5-D153-43FD-9F41-0EB9A0C8B442}">
      <dsp:nvSpPr>
        <dsp:cNvPr id="0" name=""/>
        <dsp:cNvSpPr/>
      </dsp:nvSpPr>
      <dsp:spPr>
        <a:xfrm>
          <a:off x="3427242" y="2214580"/>
          <a:ext cx="4862611" cy="269167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9136" rIns="199136" bIns="199136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rPr>
            <a:t>指令</a:t>
          </a:r>
          <a:r>
            <a:rPr lang="en-US" altLang="zh-CN" sz="2800" kern="1200" dirty="0" smtClean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rPr>
            <a:t>:     </a:t>
          </a:r>
          <a:r>
            <a:rPr lang="en-US" altLang="zh-CN" sz="2800" kern="1200" dirty="0" err="1" smtClean="0">
              <a:latin typeface="华文楷体" panose="02010600040101010101" pitchFamily="2" charset="-122"/>
              <a:ea typeface="华文楷体" panose="02010600040101010101" pitchFamily="2" charset="-122"/>
            </a:rPr>
            <a:t>trapz</a:t>
          </a:r>
          <a:r>
            <a:rPr lang="en-US" altLang="zh-CN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 (</a:t>
          </a:r>
          <a:r>
            <a:rPr lang="zh-CN" altLang="en-US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数据积分</a:t>
          </a:r>
          <a:r>
            <a:rPr lang="en-US" altLang="zh-CN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)           quad,    </a:t>
          </a:r>
          <a:r>
            <a:rPr lang="en-US" altLang="zh-CN" sz="2800" kern="1200" dirty="0" err="1" smtClean="0">
              <a:latin typeface="华文楷体" panose="02010600040101010101" pitchFamily="2" charset="-122"/>
              <a:ea typeface="华文楷体" panose="02010600040101010101" pitchFamily="2" charset="-122"/>
            </a:rPr>
            <a:t>quadl</a:t>
          </a:r>
          <a:r>
            <a:rPr lang="zh-CN" altLang="en-US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（函数积分）</a:t>
          </a:r>
          <a:r>
            <a:rPr lang="en-US" altLang="zh-CN" sz="2800" kern="1200" dirty="0" err="1" smtClean="0">
              <a:latin typeface="华文楷体" panose="02010600040101010101" pitchFamily="2" charset="-122"/>
              <a:ea typeface="华文楷体" panose="02010600040101010101" pitchFamily="2" charset="-122"/>
            </a:rPr>
            <a:t>dblquad</a:t>
          </a:r>
          <a:r>
            <a:rPr lang="zh-CN" altLang="en-US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（二重函数积分）</a:t>
          </a:r>
          <a:r>
            <a:rPr lang="en-US" altLang="zh-CN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 </a:t>
          </a:r>
          <a:r>
            <a:rPr lang="en-US" altLang="zh-CN" sz="2800" kern="1200" smtClean="0">
              <a:latin typeface="华文楷体" panose="02010600040101010101" pitchFamily="2" charset="-122"/>
              <a:ea typeface="华文楷体" panose="02010600040101010101" pitchFamily="2" charset="-122"/>
            </a:rPr>
            <a:t>triplequad</a:t>
          </a:r>
          <a:r>
            <a:rPr lang="en-US" altLang="zh-CN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 (</a:t>
          </a:r>
          <a:r>
            <a:rPr lang="zh-CN" altLang="en-US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三重函数积分）</a:t>
          </a:r>
          <a:r>
            <a:rPr lang="en-US" altLang="zh-CN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      </a:t>
          </a:r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符号指令</a:t>
          </a:r>
          <a:r>
            <a:rPr lang="en-US" altLang="zh-CN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(</a:t>
          </a:r>
          <a:r>
            <a:rPr lang="zh-CN" altLang="en-US" sz="2800" kern="1200" dirty="0" smtClean="0">
              <a:latin typeface="华文楷体" panose="02010600040101010101" pitchFamily="2" charset="-122"/>
              <a:ea typeface="华文楷体" panose="02010600040101010101" pitchFamily="2" charset="-122"/>
            </a:rPr>
            <a:t>符号函数积分）</a:t>
          </a:r>
          <a:endParaRPr lang="en-US" altLang="zh-CN" sz="2800" kern="1200" dirty="0" smtClean="0">
            <a:latin typeface="华文楷体" panose="02010600040101010101" pitchFamily="2" charset="-122"/>
            <a:ea typeface="华文楷体" panose="02010600040101010101" pitchFamily="2" charset="-122"/>
          </a:endParaRPr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 dirty="0"/>
        </a:p>
      </dsp:txBody>
      <dsp:txXfrm>
        <a:off x="4205260" y="2214580"/>
        <a:ext cx="4084593" cy="2691678"/>
      </dsp:txXfrm>
    </dsp:sp>
    <dsp:sp modelId="{F12882CA-4775-4841-B527-98AB4E80A287}">
      <dsp:nvSpPr>
        <dsp:cNvPr id="0" name=""/>
        <dsp:cNvSpPr/>
      </dsp:nvSpPr>
      <dsp:spPr>
        <a:xfrm flipH="1">
          <a:off x="3286151" y="142875"/>
          <a:ext cx="853678" cy="18522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rPr>
            <a:t>数值积分</a:t>
          </a:r>
        </a:p>
      </dsp:txBody>
      <dsp:txXfrm>
        <a:off x="3411169" y="414124"/>
        <a:ext cx="603642" cy="1309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#1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nodeVertAlign" val="t"/>
          <dgm:param type="fallback" val="2D"/>
        </dgm:alg>
      </dgm:if>
      <dgm:else name="Name2">
        <dgm:alg type="lin">
          <dgm:param type="linDir" val="from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E4EC80A-A712-40D4-8816-F572864C5CB9}" type="datetimeFigureOut">
              <a:rPr lang="zh-CN" altLang="en-US"/>
              <a:t>2025/4/15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093F131-B2A6-4AE1-88A0-E4FEEFCA9ADE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0175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C89A5BB-FA1D-4962-9E40-4CD7E594FCDD}" type="datetimeFigureOut">
              <a:rPr lang="zh-CN" altLang="en-US"/>
              <a:t>2025/4/15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347AB5D-ABBC-4DDB-8A9D-77D5B007D8C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6526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smtClean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882B3F-F677-419A-A4A6-1887A215D3E9}" type="slidenum">
              <a:rPr lang="zh-CN" altLang="en-US" smtClean="0">
                <a:latin typeface="Calibri" panose="020F0502020204030204" pitchFamily="34" charset="0"/>
              </a:rPr>
              <a:t>1</a:t>
            </a:fld>
            <a:endParaRPr lang="zh-CN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7AB5D-ABBC-4DDB-8A9D-77D5B007D8C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 smtClean="0"/>
              <a:t>此页改字号</a:t>
            </a:r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524ABA2-8504-47E8-A001-768BFE6A4111}" type="slidenum">
              <a:rPr lang="zh-CN" altLang="en-US" smtClean="0">
                <a:latin typeface="Calibri" panose="020F0502020204030204" pitchFamily="34" charset="0"/>
              </a:rPr>
              <a:t>4</a:t>
            </a:fld>
            <a:endParaRPr lang="zh-CN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7AB5D-ABBC-4DDB-8A9D-77D5B007D8CF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是否需要标号或者加框来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7AB5D-ABBC-4DDB-8A9D-77D5B007D8CF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概念、注释均用深绿色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7AB5D-ABBC-4DDB-8A9D-77D5B007D8CF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1">
          <a:blip r:embed="rId2" cstate="print">
            <a:lum bright="42000" contrast="-68000"/>
          </a:blip>
          <a:srcRect/>
          <a:stretch>
            <a:fillRect l="-30000" t="-20000" r="-2000" b="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763688" y="4038600"/>
            <a:ext cx="7075512" cy="1828800"/>
          </a:xfrm>
        </p:spPr>
        <p:txBody>
          <a:bodyPr anchor="b"/>
          <a:lstStyle>
            <a:lvl1pPr>
              <a:defRPr cap="all" baseline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3000">
                <a:solidFill>
                  <a:srgbClr val="FFFFFF"/>
                </a:solidFill>
              </a:defRPr>
            </a:lvl1pPr>
            <a:lvl2pPr marL="422275" indent="0" algn="ctr">
              <a:buNone/>
            </a:lvl2pPr>
            <a:lvl3pPr marL="843915" indent="0" algn="ctr">
              <a:buNone/>
            </a:lvl3pPr>
            <a:lvl4pPr marL="1266190" indent="0" algn="ctr">
              <a:buNone/>
            </a:lvl4pPr>
            <a:lvl5pPr marL="1688465" indent="0" algn="ctr">
              <a:buNone/>
            </a:lvl5pPr>
            <a:lvl6pPr marL="2110105" indent="0" algn="ctr">
              <a:buNone/>
            </a:lvl6pPr>
            <a:lvl7pPr marL="2532380" indent="0" algn="ctr">
              <a:buNone/>
            </a:lvl7pPr>
            <a:lvl8pPr marL="2954020" indent="0" algn="ctr">
              <a:buNone/>
            </a:lvl8pPr>
            <a:lvl9pPr marL="3376295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2DCF2CB-3A74-4C5D-946A-66D632B744EB}" type="datetime1">
              <a:rPr lang="zh-CN" altLang="en-US" smtClean="0"/>
              <a:t>2025/4/15</a:t>
            </a:fld>
            <a:endParaRPr lang="zh-CN" alt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42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§1.1.1</a:t>
            </a:r>
            <a:endParaRPr lang="zh-CN" alt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A9EADFE-3DB5-4618-A06E-4429C8D19DB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573" y="6453336"/>
            <a:ext cx="5518854" cy="386825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/>
              <a:t>§3.1.1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18DF3CD-C557-429F-8065-0F19155C69C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>
              <a:buNone/>
              <a:defRPr sz="2585">
                <a:solidFill>
                  <a:schemeClr val="tx2"/>
                </a:solidFill>
              </a:defRPr>
            </a:lvl1pPr>
            <a:lvl2pPr>
              <a:buNone/>
              <a:defRPr sz="166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475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29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29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060" b="0" cap="none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21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E6770A6-89C2-43C2-97E0-2883305B55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§3.1.1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A0235F55-BC24-42C4-9235-FE5B5DC627D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r>
              <a:rPr lang="en-US" altLang="zh-CN" dirty="0" smtClean="0"/>
              <a:t>§3.1.1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544" y="116632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A538EF6C-334E-4C2C-90BE-F01BD2AD522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r>
              <a:rPr lang="en-US" altLang="zh-CN" dirty="0" smtClean="0"/>
              <a:t>§3.1.1</a:t>
            </a:r>
            <a:endParaRPr lang="zh-CN" alt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1845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1845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§3.1.1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D893B0E-0A1A-4A28-B6F2-FE7E80598ADD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861458" y="6492875"/>
            <a:ext cx="5421083" cy="365125"/>
          </a:xfrm>
        </p:spPr>
        <p:txBody>
          <a:bodyPr/>
          <a:lstStyle>
            <a:lvl1pPr>
              <a:defRPr sz="1600">
                <a:solidFill>
                  <a:srgbClr val="967D42"/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§3.1.1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894" y="27765"/>
            <a:ext cx="481626" cy="684640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70893" y="116632"/>
            <a:ext cx="507577" cy="360040"/>
          </a:xfrm>
        </p:spPr>
        <p:txBody>
          <a:bodyPr vert="horz">
            <a:noAutofit/>
          </a:bodyPr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E8DA490-ED8E-4C67-B7BA-D30E019A561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110778"/>
            <a:ext cx="8077200" cy="869950"/>
          </a:xfrm>
        </p:spPr>
        <p:txBody>
          <a:bodyPr anchor="ctr"/>
          <a:lstStyle>
            <a:lvl1pPr algn="l">
              <a:buNone/>
              <a:defRPr sz="406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§3.1.1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18DF3CD-C557-429F-8065-0F19155C69C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pic>
        <p:nvPicPr>
          <p:cNvPr id="8" name="Picture 7" descr="sm_penci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2648" y="1755651"/>
            <a:ext cx="1615307" cy="2145615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570"/>
            </a:lvl1pPr>
            <a:lvl2pPr>
              <a:buFontTx/>
              <a:buNone/>
              <a:defRPr sz="1110"/>
            </a:lvl2pPr>
            <a:lvl3pPr>
              <a:buFontTx/>
              <a:buNone/>
              <a:defRPr sz="925"/>
            </a:lvl3pPr>
            <a:lvl4pPr>
              <a:buFontTx/>
              <a:buNone/>
              <a:defRPr sz="830"/>
            </a:lvl4pPr>
            <a:lvl5pPr>
              <a:buFontTx/>
              <a:buNone/>
              <a:defRPr sz="83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585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4"/>
            <a:ext cx="2667000" cy="365125"/>
          </a:xfrm>
          <a:prstGeom prst="rect">
            <a:avLst/>
          </a:prstGeom>
        </p:spPr>
        <p:txBody>
          <a:bodyPr rtlCol="0"/>
          <a:lstStyle/>
          <a:p>
            <a:pPr>
              <a:defRPr/>
            </a:pPr>
            <a:fld id="{870911D1-4468-449F-922F-C8D071200CF4}" type="datetime1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585"/>
            </a:lvl1pPr>
          </a:lstStyle>
          <a:p>
            <a:pPr>
              <a:defRPr/>
            </a:pPr>
            <a:fld id="{EE38F8FD-2D0D-490C-A28B-9D2BB58F34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10"/>
            <a:ext cx="4572000" cy="365125"/>
          </a:xfrm>
        </p:spPr>
        <p:txBody>
          <a:bodyPr rtlCol="0"/>
          <a:lstStyle/>
          <a:p>
            <a:pPr>
              <a:defRPr/>
            </a:pPr>
            <a:r>
              <a:rPr lang="en-US" altLang="zh-CN" smtClean="0"/>
              <a:t>§1.1.1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2955"/>
            </a:lvl1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§3.1.1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217B81-8C48-4241-AD6D-AEF1C88C9F4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3"/>
            <a:ext cx="2057400" cy="55165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6"/>
            <a:ext cx="2209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3BD3FEA-5730-400B-B4EC-9ED301CC928A}" type="datetime1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3" y="6248211"/>
            <a:ext cx="5573483" cy="365125"/>
          </a:xfrm>
        </p:spPr>
        <p:txBody>
          <a:bodyPr/>
          <a:lstStyle/>
          <a:p>
            <a:pPr>
              <a:defRPr/>
            </a:pPr>
            <a:r>
              <a:rPr lang="en-US" altLang="zh-CN" smtClean="0"/>
              <a:t>§1.1.1</a:t>
            </a:r>
            <a:endParaRPr lang="zh-CN" alt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4"/>
            <a:ext cx="533400" cy="244476"/>
          </a:xfrm>
        </p:spPr>
        <p:txBody>
          <a:bodyPr/>
          <a:lstStyle/>
          <a:p>
            <a:pPr>
              <a:defRPr/>
            </a:pPr>
            <a:fld id="{9B00D402-D5B2-4395-87F6-3695197158A3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24024"/>
            <a:ext cx="8153400" cy="856704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1" name="Slide Number Placeholder 22"/>
          <p:cNvSpPr txBox="1"/>
          <p:nvPr userDrawn="1"/>
        </p:nvSpPr>
        <p:spPr>
          <a:xfrm>
            <a:off x="0" y="1124744"/>
            <a:ext cx="533400" cy="244476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90" b="1" kern="120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F18DF3CD-C557-429F-8065-0F19155C69CE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61458" y="6492875"/>
            <a:ext cx="5421083" cy="365125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/>
              <a:t>§3.1.1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1">
          <a:blip r:embed="rId2" cstate="print">
            <a:lum bright="42000" contrast="-68000"/>
          </a:blip>
          <a:srcRect/>
          <a:stretch>
            <a:fillRect l="-30000" t="-20000" r="-2000" b="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225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043608" y="1988840"/>
            <a:ext cx="7795592" cy="854224"/>
          </a:xfrm>
        </p:spPr>
        <p:txBody>
          <a:bodyPr anchor="b"/>
          <a:lstStyle>
            <a:lvl1pPr algn="ctr">
              <a:defRPr cap="all" baseline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FFFFFF"/>
                </a:solidFill>
              </a:defRPr>
            </a:lvl1pPr>
            <a:lvl2pPr marL="316230" indent="0" algn="ctr">
              <a:buNone/>
            </a:lvl2pPr>
            <a:lvl3pPr marL="633095" indent="0" algn="ctr">
              <a:buNone/>
            </a:lvl3pPr>
            <a:lvl4pPr marL="949325" indent="0" algn="ctr">
              <a:buNone/>
            </a:lvl4pPr>
            <a:lvl5pPr marL="1266190" indent="0" algn="ctr">
              <a:buNone/>
            </a:lvl5pPr>
            <a:lvl6pPr marL="1582420" indent="0" algn="ctr">
              <a:buNone/>
            </a:lvl6pPr>
            <a:lvl7pPr marL="1899285" indent="0" algn="ctr">
              <a:buNone/>
            </a:lvl7pPr>
            <a:lvl8pPr marL="2215515" indent="0" algn="ctr">
              <a:buNone/>
            </a:lvl8pPr>
            <a:lvl9pPr marL="253238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5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37F28D9D-960C-4DB0-9CD9-CBB1EBEF4DED}" type="datetime1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44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altLang="zh-CN" smtClean="0">
                <a:solidFill>
                  <a:srgbClr val="4F271C"/>
                </a:solidFill>
              </a:rPr>
              <a:t>§8.1   </a:t>
            </a:r>
            <a:endParaRPr lang="zh-CN" altLang="en-US" dirty="0">
              <a:solidFill>
                <a:srgbClr val="4F271C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C2A77D-62AB-4166-B1EC-7213DEDD6B94}" type="slidenum">
              <a:rPr lang="zh-CN" altLang="en-US" smtClean="0">
                <a:solidFill>
                  <a:srgbClr val="4F271C"/>
                </a:solidFill>
              </a:rPr>
              <a:t>‹#›</a:t>
            </a:fld>
            <a:endParaRPr lang="zh-CN" altLang="en-US" dirty="0">
              <a:solidFill>
                <a:srgbClr val="4F271C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61459" y="6453338"/>
            <a:ext cx="5421083" cy="365125"/>
          </a:xfrm>
        </p:spPr>
        <p:txBody>
          <a:bodyPr/>
          <a:lstStyle>
            <a:lvl1pPr>
              <a:defRPr sz="1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smtClean="0"/>
              <a:t>§8.1   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fld id="{1EC2A77D-62AB-4166-B1EC-7213DEDD6B9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743200"/>
            <a:ext cx="7123113" cy="1673225"/>
          </a:xfrm>
        </p:spPr>
        <p:txBody>
          <a:bodyPr anchor="t"/>
          <a:lstStyle>
            <a:lvl1pPr>
              <a:buNone/>
              <a:defRPr sz="1940">
                <a:solidFill>
                  <a:schemeClr val="tx2"/>
                </a:solidFill>
              </a:defRPr>
            </a:lvl1pPr>
            <a:lvl2pPr>
              <a:buNone/>
              <a:defRPr sz="1245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11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97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97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3045" b="0" cap="none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624"/>
            <a:ext cx="8153400" cy="990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>
            <a:noAutofit/>
          </a:bodyPr>
          <a:lstStyle>
            <a:lvl1pPr>
              <a:defRPr sz="1050"/>
            </a:lvl1pPr>
          </a:lstStyle>
          <a:p>
            <a:fld id="{1EC2A77D-62AB-4166-B1EC-7213DEDD6B9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>
          <a:xfrm>
            <a:off x="1861459" y="6453949"/>
            <a:ext cx="5421083" cy="365125"/>
          </a:xfrm>
        </p:spPr>
        <p:txBody>
          <a:bodyPr rtlCol="0"/>
          <a:lstStyle/>
          <a:p>
            <a:r>
              <a:rPr lang="en-US" altLang="zh-CN" smtClean="0"/>
              <a:t>§8.1   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>
            <a:noAutofit/>
          </a:bodyPr>
          <a:lstStyle>
            <a:lvl1pPr>
              <a:defRPr sz="1050"/>
            </a:lvl1pPr>
          </a:lstStyle>
          <a:p>
            <a:fld id="{1EC2A77D-62AB-4166-B1EC-7213DEDD6B9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1861459" y="6478178"/>
            <a:ext cx="5421083" cy="365125"/>
          </a:xfrm>
        </p:spPr>
        <p:txBody>
          <a:bodyPr rtlCol="0"/>
          <a:lstStyle/>
          <a:p>
            <a:r>
              <a:rPr lang="en-US" altLang="zh-CN" smtClean="0"/>
              <a:t>§8.1   </a:t>
            </a:r>
            <a:endParaRPr lang="zh-CN" alt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1385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1385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61459" y="6492877"/>
            <a:ext cx="5421083" cy="365125"/>
          </a:xfr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smtClean="0"/>
              <a:t>§8.1   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fld id="{1EC2A77D-62AB-4166-B1EC-7213DEDD6B9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861459" y="6492877"/>
            <a:ext cx="5421083" cy="365125"/>
          </a:xfrm>
        </p:spPr>
        <p:txBody>
          <a:bodyPr/>
          <a:lstStyle>
            <a:lvl1pPr>
              <a:defRPr sz="1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smtClean="0"/>
              <a:t>§8.1   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794" y="-14792"/>
            <a:ext cx="239207" cy="6872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42661" y="147341"/>
            <a:ext cx="563471" cy="239208"/>
          </a:xfrm>
        </p:spPr>
        <p:txBody>
          <a:bodyPr>
            <a:noAutofit/>
          </a:bodyPr>
          <a:lstStyle>
            <a:lvl1pPr>
              <a:defRPr sz="1050" b="1">
                <a:solidFill>
                  <a:schemeClr val="tx1"/>
                </a:solidFill>
                <a:latin typeface="Cambria Math" panose="02040503050406030204" pitchFamily="18" charset="0"/>
              </a:defRPr>
            </a:lvl1pPr>
          </a:lstStyle>
          <a:p>
            <a:fld id="{1EC2A77D-62AB-4166-B1EC-7213DEDD6B94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304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61459" y="6492877"/>
            <a:ext cx="5421083" cy="365125"/>
          </a:xfrm>
        </p:spPr>
        <p:txBody>
          <a:bodyPr/>
          <a:lstStyle/>
          <a:p>
            <a:r>
              <a:rPr lang="en-US" altLang="zh-CN" smtClean="0"/>
              <a:t>§8.1   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fld id="{1EC2A77D-62AB-4166-B1EC-7213DEDD6B9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pic>
        <p:nvPicPr>
          <p:cNvPr id="8" name="Picture 7" descr="sm_penci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3" y="1556794"/>
            <a:ext cx="1615307" cy="2145615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175"/>
            </a:lvl1pPr>
            <a:lvl2pPr>
              <a:buFontTx/>
              <a:buNone/>
              <a:defRPr sz="830"/>
            </a:lvl2pPr>
            <a:lvl3pPr>
              <a:buFontTx/>
              <a:buNone/>
              <a:defRPr sz="690"/>
            </a:lvl3pPr>
            <a:lvl4pPr>
              <a:buFontTx/>
              <a:buNone/>
              <a:defRPr sz="625"/>
            </a:lvl4pPr>
            <a:lvl5pPr>
              <a:buFontTx/>
              <a:buNone/>
              <a:defRPr sz="625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194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6"/>
            <a:ext cx="2667000" cy="365125"/>
          </a:xfrm>
          <a:prstGeom prst="rect">
            <a:avLst/>
          </a:prstGeom>
        </p:spPr>
        <p:txBody>
          <a:bodyPr rtlCol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A275B527-F85A-4CBD-AC0C-26BCFB342EF1}" type="datetime1">
              <a:rPr lang="zh-CN" altLang="en-US" smtClean="0">
                <a:solidFill>
                  <a:prstClr val="black"/>
                </a:solidFill>
                <a:latin typeface="Tw Cen MT" panose="020B0602020104020603"/>
                <a:ea typeface="华文仿宋" panose="02010600040101010101" pitchFamily="2" charset="-122"/>
              </a:rPr>
              <a:t>2025/4/15</a:t>
            </a:fld>
            <a:endParaRPr lang="zh-CN" altLang="en-US">
              <a:solidFill>
                <a:prstClr val="black"/>
              </a:solidFill>
              <a:latin typeface="Tw Cen MT" panose="020B0602020104020603"/>
              <a:ea typeface="华文仿宋" panose="02010600040101010101" pitchFamily="2" charset="-122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1940"/>
            </a:lvl1pPr>
          </a:lstStyle>
          <a:p>
            <a:fld id="{1EC2A77D-62AB-4166-B1EC-7213DEDD6B9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12"/>
            <a:ext cx="4572000" cy="365125"/>
          </a:xfrm>
        </p:spPr>
        <p:txBody>
          <a:bodyPr rtlCol="0"/>
          <a:lstStyle/>
          <a:p>
            <a:r>
              <a:rPr lang="en-US" altLang="zh-CN" smtClean="0"/>
              <a:t>§8.1   </a:t>
            </a:r>
            <a:endParaRPr lang="zh-CN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2215"/>
            </a:lvl1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§8.1   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sz="1050"/>
            </a:lvl1pPr>
          </a:lstStyle>
          <a:p>
            <a:fld id="{1EC2A77D-62AB-4166-B1EC-7213DEDD6B9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5"/>
            <a:ext cx="2057400" cy="55165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8"/>
            <a:ext cx="2209800" cy="365125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3D8B7457-FC5F-40E0-95F2-03630A5F2CB3}" type="datetime1">
              <a:rPr lang="zh-CN" altLang="en-US" smtClean="0">
                <a:solidFill>
                  <a:prstClr val="black"/>
                </a:solidFill>
                <a:latin typeface="Tw Cen MT" panose="020B0602020104020603"/>
                <a:ea typeface="华文仿宋" panose="02010600040101010101" pitchFamily="2" charset="-122"/>
              </a:rPr>
              <a:t>2025/4/15</a:t>
            </a:fld>
            <a:endParaRPr lang="zh-CN" altLang="en-US">
              <a:solidFill>
                <a:prstClr val="black"/>
              </a:solidFill>
              <a:latin typeface="Tw Cen MT" panose="020B0602020104020603"/>
              <a:ea typeface="华文仿宋" panose="0201060004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4" y="6248213"/>
            <a:ext cx="5573483" cy="365125"/>
          </a:xfrm>
        </p:spPr>
        <p:txBody>
          <a:bodyPr/>
          <a:lstStyle/>
          <a:p>
            <a:r>
              <a:rPr lang="en-US" altLang="zh-CN" smtClean="0"/>
              <a:t>§8.1   </a:t>
            </a:r>
            <a:endParaRPr lang="zh-CN" alt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68059" y="568395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8265" y="16548"/>
            <a:ext cx="7772400" cy="1143000"/>
          </a:xfrm>
        </p:spPr>
        <p:txBody>
          <a:bodyPr/>
          <a:lstStyle/>
          <a:p>
            <a:r>
              <a:rPr lang="en-US" altLang="zh-CN" dirty="0" smtClean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861459" y="6448252"/>
            <a:ext cx="5421083" cy="365125"/>
          </a:xfrm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en-US" altLang="zh-CN" sz="1200" i="0" kern="1200" smtClean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</a:lstStyle>
          <a:p>
            <a:r>
              <a:rPr>
                <a:solidFill>
                  <a:srgbClr val="4F271C"/>
                </a:solidFill>
              </a:rPr>
              <a:t>§8.1   </a:t>
            </a:r>
            <a:endParaRPr lang="zh-CN" altLang="en-US" dirty="0">
              <a:solidFill>
                <a:srgbClr val="4F271C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sz="1050"/>
            </a:lvl1pPr>
          </a:lstStyle>
          <a:p>
            <a:fld id="{1EC2A77D-62AB-4166-B1EC-7213DEDD6B9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DCE5E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-62298"/>
            <a:ext cx="9144000" cy="1288800"/>
          </a:xfrm>
          <a:prstGeom prst="rect">
            <a:avLst/>
          </a:prstGeom>
          <a:gradFill>
            <a:gsLst>
              <a:gs pos="0">
                <a:srgbClr val="5E9EFF"/>
              </a:gs>
              <a:gs pos="0">
                <a:srgbClr val="8FC7FF"/>
              </a:gs>
              <a:gs pos="100000">
                <a:srgbClr val="C4D6EB">
                  <a:alpha val="44000"/>
                  <a:lumMod val="0"/>
                  <a:lumOff val="100000"/>
                </a:srgbClr>
              </a:gs>
              <a:gs pos="100000">
                <a:srgbClr val="FFEBFA"/>
              </a:gs>
            </a:gsLst>
            <a:lin ang="5400000" scaled="0"/>
          </a:gra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24024"/>
            <a:ext cx="8153400" cy="88770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466356"/>
            <a:ext cx="8153400" cy="498189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861458" y="6492875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ctr">
              <a:defRPr sz="1600">
                <a:solidFill>
                  <a:srgbClr val="967D42"/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§3.1.1</a:t>
            </a:r>
            <a:endParaRPr lang="zh-CN" alt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124744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124744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4744"/>
            <a:ext cx="533400" cy="244476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18DF3CD-C557-429F-8065-0F19155C69C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hf hdr="0" dt="0"/>
  <p:txStyles>
    <p:titleStyle>
      <a:lvl1pPr algn="l" rtl="0" eaLnBrk="1" latinLnBrk="0" hangingPunct="1">
        <a:spcBef>
          <a:spcPct val="0"/>
        </a:spcBef>
        <a:buNone/>
        <a:defRPr sz="4400" kern="1200">
          <a:solidFill>
            <a:srgbClr val="0070C0"/>
          </a:solidFill>
          <a:latin typeface="华文新魏" panose="02010800040101010101" pitchFamily="2" charset="-122"/>
          <a:ea typeface="华文新魏" panose="02010800040101010101" pitchFamily="2" charset="-122"/>
          <a:cs typeface="+mj-cs"/>
        </a:defRPr>
      </a:lvl1pPr>
    </p:titleStyle>
    <p:bodyStyle>
      <a:lvl1pPr marL="295275" indent="-295275" algn="l" rtl="0" eaLnBrk="1" latinLnBrk="0" hangingPunct="1">
        <a:spcBef>
          <a:spcPts val="645"/>
        </a:spcBef>
        <a:buClr>
          <a:schemeClr val="accent2"/>
        </a:buClr>
        <a:buSzPct val="60000"/>
        <a:buFont typeface="Wingdings" panose="05000000000000000000"/>
        <a:buChar char=""/>
        <a:defRPr sz="2675" kern="1200">
          <a:solidFill>
            <a:srgbClr val="000000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1pPr>
      <a:lvl2pPr marL="590550" indent="-253365" algn="l" rtl="0" eaLnBrk="1" latinLnBrk="0" hangingPunct="1">
        <a:spcBef>
          <a:spcPts val="510"/>
        </a:spcBef>
        <a:buClr>
          <a:schemeClr val="accent1"/>
        </a:buClr>
        <a:buSzPct val="70000"/>
        <a:buFont typeface="Wingdings 2" panose="05020102010507070707"/>
        <a:buChar char="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843915" indent="-210820" algn="l" rtl="0" eaLnBrk="1" latinLnBrk="0" hangingPunct="1">
        <a:spcBef>
          <a:spcPts val="460"/>
        </a:spcBef>
        <a:buClr>
          <a:schemeClr val="accent2"/>
        </a:buClr>
        <a:buSzPct val="75000"/>
        <a:buFont typeface="Wingdings" panose="05000000000000000000"/>
        <a:buChar char=""/>
        <a:defRPr sz="2125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1266190" indent="-210820" algn="l" rtl="0" eaLnBrk="1" latinLnBrk="0" hangingPunct="1">
        <a:spcBef>
          <a:spcPts val="370"/>
        </a:spcBef>
        <a:buClr>
          <a:schemeClr val="accent3"/>
        </a:buClr>
        <a:buSzPct val="75000"/>
        <a:buFont typeface="Wingdings" panose="05000000000000000000"/>
        <a:buChar char=""/>
        <a:defRPr sz="1845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1688465" indent="-210820" algn="l" rtl="0" eaLnBrk="1" latinLnBrk="0" hangingPunct="1">
        <a:spcBef>
          <a:spcPts val="370"/>
        </a:spcBef>
        <a:buClr>
          <a:schemeClr val="accent4"/>
        </a:buClr>
        <a:buSzPct val="65000"/>
        <a:buFont typeface="Wingdings" panose="05000000000000000000"/>
        <a:buChar char=""/>
        <a:defRPr sz="1845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1941195" indent="-21082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/>
        <a:buChar char="§"/>
        <a:defRPr sz="166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1082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/>
        <a:buChar char="§"/>
        <a:defRPr sz="166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47925" indent="-21082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/>
        <a:buChar char="§"/>
        <a:defRPr sz="166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01290" indent="-21082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/>
        <a:buChar char="§"/>
        <a:defRPr sz="166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2227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4391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26619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68846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11010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53238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295402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37629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DCE5E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397436"/>
            <a:ext cx="9144000" cy="369332"/>
          </a:xfrm>
          <a:prstGeom prst="rect">
            <a:avLst/>
          </a:prstGeom>
          <a:gradFill>
            <a:gsLst>
              <a:gs pos="0">
                <a:srgbClr val="5E9EFF"/>
              </a:gs>
              <a:gs pos="0">
                <a:srgbClr val="8FC7FF"/>
              </a:gs>
              <a:gs pos="100000">
                <a:srgbClr val="C4D6EB">
                  <a:alpha val="44000"/>
                  <a:lumMod val="0"/>
                  <a:lumOff val="100000"/>
                </a:srgbClr>
              </a:gs>
              <a:gs pos="100000">
                <a:srgbClr val="FFEBFA"/>
              </a:gs>
            </a:gsLst>
            <a:lin ang="5400000" scaled="0"/>
          </a:gradFill>
        </p:spPr>
        <p:txBody>
          <a:bodyPr wrap="square" rtlCol="0"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800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24024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466356"/>
            <a:ext cx="8153400" cy="498189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861459" y="6492877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ctr">
              <a:defRPr sz="1200">
                <a:solidFill>
                  <a:srgbClr val="967D42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mtClean="0"/>
              <a:t>§8.1   </a:t>
            </a:r>
            <a:endParaRPr lang="zh-CN" alt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124744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0550" y="1124744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4744"/>
            <a:ext cx="533400" cy="244476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ctr">
              <a:defRPr sz="105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1EC2A77D-62AB-4166-B1EC-7213DEDD6B9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sz="3300" kern="1200">
          <a:solidFill>
            <a:srgbClr val="0070C0"/>
          </a:solidFill>
          <a:latin typeface="华文新魏" panose="02010800040101010101" pitchFamily="2" charset="-122"/>
          <a:ea typeface="华文新魏" panose="02010800040101010101" pitchFamily="2" charset="-122"/>
          <a:cs typeface="+mj-cs"/>
        </a:defRPr>
      </a:lvl1pPr>
    </p:titleStyle>
    <p:bodyStyle>
      <a:lvl1pPr marL="221615" indent="-221615" algn="l" rtl="0" eaLnBrk="1" latinLnBrk="0" hangingPunct="1">
        <a:spcBef>
          <a:spcPts val="485"/>
        </a:spcBef>
        <a:buClr>
          <a:schemeClr val="accent2"/>
        </a:buClr>
        <a:buSzPct val="60000"/>
        <a:buFont typeface="Wingdings" panose="05000000000000000000"/>
        <a:buChar char=""/>
        <a:defRPr sz="201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1pPr>
      <a:lvl2pPr marL="443230" indent="-189865" algn="l" rtl="0" eaLnBrk="1" latinLnBrk="0" hangingPunct="1">
        <a:spcBef>
          <a:spcPts val="380"/>
        </a:spcBef>
        <a:buClr>
          <a:schemeClr val="accent1"/>
        </a:buClr>
        <a:buSzPct val="70000"/>
        <a:buFont typeface="Wingdings 2" panose="05020102010507070707"/>
        <a:buChar char=""/>
        <a:defRPr sz="1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633095" indent="-158115" algn="l" rtl="0" eaLnBrk="1" latinLnBrk="0" hangingPunct="1">
        <a:spcBef>
          <a:spcPts val="345"/>
        </a:spcBef>
        <a:buClr>
          <a:schemeClr val="accent2"/>
        </a:buClr>
        <a:buSzPct val="75000"/>
        <a:buFont typeface="Wingdings" panose="05000000000000000000"/>
        <a:buChar char=""/>
        <a:defRPr sz="159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949325" indent="-158115" algn="l" rtl="0" eaLnBrk="1" latinLnBrk="0" hangingPunct="1">
        <a:spcBef>
          <a:spcPts val="275"/>
        </a:spcBef>
        <a:buClr>
          <a:schemeClr val="accent3"/>
        </a:buClr>
        <a:buSzPct val="75000"/>
        <a:buFont typeface="Wingdings" panose="05000000000000000000"/>
        <a:buChar char=""/>
        <a:defRPr sz="1385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1266190" indent="-158115" algn="l" rtl="0" eaLnBrk="1" latinLnBrk="0" hangingPunct="1">
        <a:spcBef>
          <a:spcPts val="275"/>
        </a:spcBef>
        <a:buClr>
          <a:schemeClr val="accent4"/>
        </a:buClr>
        <a:buSzPct val="65000"/>
        <a:buFont typeface="Wingdings" panose="05000000000000000000"/>
        <a:buChar char=""/>
        <a:defRPr sz="1385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1456055" indent="-158115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/>
        <a:buChar char="§"/>
        <a:defRPr sz="124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158115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/>
        <a:buChar char="§"/>
        <a:defRPr sz="1245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35785" indent="-158115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/>
        <a:buChar char="§"/>
        <a:defRPr sz="1245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025650" indent="-158115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/>
        <a:buChar char="§"/>
        <a:defRPr sz="1245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31623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63309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94932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26619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58242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189928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221551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253238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4.xml"/><Relationship Id="rId7" Type="http://schemas.openxmlformats.org/officeDocument/2006/relationships/slide" Target="slide2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slide" Target="slide22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17.png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9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5.png"/><Relationship Id="rId5" Type="http://schemas.openxmlformats.org/officeDocument/2006/relationships/image" Target="../media/image22.wmf"/><Relationship Id="rId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40.png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2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32.wmf"/><Relationship Id="rId3" Type="http://schemas.openxmlformats.org/officeDocument/2006/relationships/image" Target="../media/image44.png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30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2.png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59.png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kattvinge.deviantart.com/art/Apo-0310-A-79617458" TargetMode="External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66192" y="1988840"/>
            <a:ext cx="8011616" cy="782216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400" b="1" spc="50" dirty="0" smtClean="0">
                <a:ln w="12700">
                  <a:noFill/>
                  <a:prstDash val="solid"/>
                </a:ln>
              </a:rPr>
              <a:t>第三章   数值微分与数值积分</a:t>
            </a:r>
            <a:endParaRPr sz="6000" b="1" dirty="0">
              <a:cs typeface="+mn-cs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3000" dirty="0" smtClean="0">
                <a:solidFill>
                  <a:schemeClr val="bg1"/>
                </a:solidFill>
              </a:rPr>
              <a:t>计算物理基础    彭芳麟  梁颖</a:t>
            </a:r>
            <a:r>
              <a:rPr lang="en-US" altLang="zh-CN" sz="3000" dirty="0" smtClean="0">
                <a:solidFill>
                  <a:schemeClr val="bg1"/>
                </a:solidFill>
              </a:rPr>
              <a:t>  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页脚占位符 3"/>
          <p:cNvSpPr>
            <a:spLocks noGrp="1"/>
          </p:cNvSpPr>
          <p:nvPr>
            <p:ph type="ftr" sz="quarter" idx="4294967295"/>
          </p:nvPr>
        </p:nvSpPr>
        <p:spPr bwMode="auto">
          <a:xfrm>
            <a:off x="7046913" y="6381750"/>
            <a:ext cx="2133600" cy="2444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r>
              <a:rPr lang="zh-CN" altLang="en-US"/>
              <a:t>   </a:t>
            </a:r>
          </a:p>
          <a:p>
            <a:r>
              <a:rPr lang="en-US" altLang="zh-CN"/>
              <a:t>   </a:t>
            </a:r>
          </a:p>
        </p:txBody>
      </p:sp>
      <p:sp>
        <p:nvSpPr>
          <p:cNvPr id="295939" name="Rectangle 2"/>
          <p:cNvSpPr>
            <a:spLocks noGrp="1" noChangeArrowheads="1"/>
          </p:cNvSpPr>
          <p:nvPr>
            <p:ph type="title"/>
          </p:nvPr>
        </p:nvSpPr>
        <p:spPr>
          <a:xfrm>
            <a:off x="569913" y="206187"/>
            <a:ext cx="6477000" cy="76200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本章内容</a:t>
            </a:r>
            <a:endParaRPr lang="en-US" altLang="zh-CN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426771" y="1707053"/>
            <a:ext cx="6057900" cy="685025"/>
            <a:chOff x="1566173" y="1753652"/>
            <a:chExt cx="6057900" cy="685025"/>
          </a:xfrm>
        </p:grpSpPr>
        <p:grpSp>
          <p:nvGrpSpPr>
            <p:cNvPr id="295944" name="Group 13"/>
            <p:cNvGrpSpPr>
              <a:grpSpLocks noChangeAspect="1"/>
            </p:cNvGrpSpPr>
            <p:nvPr/>
          </p:nvGrpSpPr>
          <p:grpSpPr bwMode="auto">
            <a:xfrm>
              <a:off x="1566173" y="2095777"/>
              <a:ext cx="6057900" cy="342900"/>
              <a:chOff x="1344" y="1464"/>
              <a:chExt cx="2544" cy="144"/>
            </a:xfrm>
          </p:grpSpPr>
          <p:sp>
            <p:nvSpPr>
              <p:cNvPr id="295954" name="Line 14">
                <a:hlinkClick r:id="rId3" action="ppaction://hlinksldjump"/>
              </p:cNvPr>
              <p:cNvSpPr>
                <a:spLocks noChangeShapeType="1"/>
              </p:cNvSpPr>
              <p:nvPr/>
            </p:nvSpPr>
            <p:spPr bwMode="auto">
              <a:xfrm>
                <a:off x="1488" y="1536"/>
                <a:ext cx="2400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5955" name="Oval 15"/>
              <p:cNvSpPr>
                <a:spLocks noChangeArrowheads="1"/>
              </p:cNvSpPr>
              <p:nvPr/>
            </p:nvSpPr>
            <p:spPr bwMode="auto">
              <a:xfrm>
                <a:off x="1344" y="1464"/>
                <a:ext cx="144" cy="144"/>
              </a:xfrm>
              <a:prstGeom prst="ellipse">
                <a:avLst/>
              </a:prstGeom>
              <a:gradFill rotWithShape="1">
                <a:gsLst>
                  <a:gs pos="0">
                    <a:srgbClr val="E96E29"/>
                  </a:gs>
                  <a:gs pos="100000">
                    <a:srgbClr val="9B491B"/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5946" name="Rectangle 19">
              <a:hlinkClick r:id="rId3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131174" y="1753652"/>
              <a:ext cx="4673074" cy="5232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§3.1  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数值微分与数值积分</a:t>
              </a:r>
              <a:endPara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403648" y="2501132"/>
            <a:ext cx="6057900" cy="711844"/>
            <a:chOff x="1543050" y="2617748"/>
            <a:chExt cx="6057900" cy="711844"/>
          </a:xfrm>
        </p:grpSpPr>
        <p:grpSp>
          <p:nvGrpSpPr>
            <p:cNvPr id="295945" name="Group 16"/>
            <p:cNvGrpSpPr>
              <a:grpSpLocks noChangeAspect="1"/>
            </p:cNvGrpSpPr>
            <p:nvPr/>
          </p:nvGrpSpPr>
          <p:grpSpPr bwMode="auto">
            <a:xfrm>
              <a:off x="1543050" y="2986692"/>
              <a:ext cx="6057900" cy="342900"/>
              <a:chOff x="1344" y="1464"/>
              <a:chExt cx="2544" cy="144"/>
            </a:xfrm>
          </p:grpSpPr>
          <p:sp>
            <p:nvSpPr>
              <p:cNvPr id="295952" name="Line 17"/>
              <p:cNvSpPr>
                <a:spLocks noChangeShapeType="1"/>
              </p:cNvSpPr>
              <p:nvPr/>
            </p:nvSpPr>
            <p:spPr bwMode="auto">
              <a:xfrm>
                <a:off x="1488" y="1536"/>
                <a:ext cx="2400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5953" name="Oval 18"/>
              <p:cNvSpPr>
                <a:spLocks noChangeArrowheads="1"/>
              </p:cNvSpPr>
              <p:nvPr/>
            </p:nvSpPr>
            <p:spPr bwMode="auto">
              <a:xfrm>
                <a:off x="1344" y="1464"/>
                <a:ext cx="144" cy="144"/>
              </a:xfrm>
              <a:prstGeom prst="ellipse">
                <a:avLst/>
              </a:prstGeom>
              <a:gradFill rotWithShape="1">
                <a:gsLst>
                  <a:gs pos="0">
                    <a:srgbClr val="DCDC48"/>
                  </a:gs>
                  <a:gs pos="100000">
                    <a:srgbClr val="939330"/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5947" name="Rectangle 20">
              <a:hlinkClick r:id="rId4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131174" y="2617748"/>
              <a:ext cx="3236784" cy="5232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§3.2  MATLAB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指令</a:t>
              </a:r>
              <a:endPara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403648" y="3378056"/>
            <a:ext cx="6057900" cy="699016"/>
            <a:chOff x="1543050" y="3526052"/>
            <a:chExt cx="6057900" cy="699016"/>
          </a:xfrm>
        </p:grpSpPr>
        <p:grpSp>
          <p:nvGrpSpPr>
            <p:cNvPr id="295941" name="Group 4"/>
            <p:cNvGrpSpPr>
              <a:grpSpLocks noChangeAspect="1"/>
            </p:cNvGrpSpPr>
            <p:nvPr/>
          </p:nvGrpSpPr>
          <p:grpSpPr bwMode="auto">
            <a:xfrm>
              <a:off x="1543050" y="3882168"/>
              <a:ext cx="6057900" cy="342900"/>
              <a:chOff x="1344" y="1464"/>
              <a:chExt cx="2544" cy="144"/>
            </a:xfrm>
          </p:grpSpPr>
          <p:sp>
            <p:nvSpPr>
              <p:cNvPr id="295960" name="Line 5"/>
              <p:cNvSpPr>
                <a:spLocks noChangeShapeType="1"/>
              </p:cNvSpPr>
              <p:nvPr/>
            </p:nvSpPr>
            <p:spPr bwMode="auto">
              <a:xfrm>
                <a:off x="1488" y="1536"/>
                <a:ext cx="2400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4902" name="Oval 6"/>
              <p:cNvSpPr>
                <a:spLocks noChangeArrowheads="1"/>
              </p:cNvSpPr>
              <p:nvPr/>
            </p:nvSpPr>
            <p:spPr bwMode="auto">
              <a:xfrm>
                <a:off x="1344" y="1464"/>
                <a:ext cx="144" cy="144"/>
              </a:xfrm>
              <a:prstGeom prst="ellipse">
                <a:avLst/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6667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295948" name="Rectangle 21">
              <a:hlinkClick r:id="rId5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131172" y="3526052"/>
              <a:ext cx="5391219" cy="5232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§3.3  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用符号工具箱计算微积分</a:t>
              </a:r>
              <a:endPara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426771" y="4174490"/>
            <a:ext cx="6057900" cy="694670"/>
            <a:chOff x="1566173" y="4425873"/>
            <a:chExt cx="6057900" cy="694670"/>
          </a:xfrm>
        </p:grpSpPr>
        <p:grpSp>
          <p:nvGrpSpPr>
            <p:cNvPr id="295942" name="Group 7"/>
            <p:cNvGrpSpPr>
              <a:grpSpLocks noChangeAspect="1"/>
            </p:cNvGrpSpPr>
            <p:nvPr/>
          </p:nvGrpSpPr>
          <p:grpSpPr bwMode="auto">
            <a:xfrm>
              <a:off x="1566173" y="4777643"/>
              <a:ext cx="6057900" cy="342900"/>
              <a:chOff x="1344" y="1464"/>
              <a:chExt cx="2544" cy="144"/>
            </a:xfrm>
          </p:grpSpPr>
          <p:sp>
            <p:nvSpPr>
              <p:cNvPr id="295958" name="Line 8"/>
              <p:cNvSpPr>
                <a:spLocks noChangeShapeType="1"/>
              </p:cNvSpPr>
              <p:nvPr/>
            </p:nvSpPr>
            <p:spPr bwMode="auto">
              <a:xfrm>
                <a:off x="1488" y="1536"/>
                <a:ext cx="2400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4905" name="Oval 9"/>
              <p:cNvSpPr>
                <a:spLocks noChangeArrowheads="1"/>
              </p:cNvSpPr>
              <p:nvPr/>
            </p:nvSpPr>
            <p:spPr bwMode="auto">
              <a:xfrm>
                <a:off x="1344" y="1464"/>
                <a:ext cx="144" cy="144"/>
              </a:xfrm>
              <a:prstGeom prst="ellipse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66667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295949" name="Rectangle 22">
              <a:hlinkClick r:id="rId6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131174" y="4425873"/>
              <a:ext cx="3954929" cy="5232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§3.4  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环形电流的磁场</a:t>
              </a:r>
              <a:endPara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426771" y="5038585"/>
            <a:ext cx="6057900" cy="694671"/>
            <a:chOff x="1566173" y="5485320"/>
            <a:chExt cx="6057900" cy="694671"/>
          </a:xfrm>
        </p:grpSpPr>
        <p:grpSp>
          <p:nvGrpSpPr>
            <p:cNvPr id="295943" name="Group 10"/>
            <p:cNvGrpSpPr>
              <a:grpSpLocks noChangeAspect="1"/>
            </p:cNvGrpSpPr>
            <p:nvPr/>
          </p:nvGrpSpPr>
          <p:grpSpPr bwMode="auto">
            <a:xfrm>
              <a:off x="1566173" y="5837091"/>
              <a:ext cx="6057900" cy="342900"/>
              <a:chOff x="1344" y="1464"/>
              <a:chExt cx="2544" cy="144"/>
            </a:xfrm>
          </p:grpSpPr>
          <p:sp>
            <p:nvSpPr>
              <p:cNvPr id="295956" name="Line 11"/>
              <p:cNvSpPr>
                <a:spLocks noChangeShapeType="1"/>
              </p:cNvSpPr>
              <p:nvPr/>
            </p:nvSpPr>
            <p:spPr bwMode="auto">
              <a:xfrm>
                <a:off x="1488" y="1536"/>
                <a:ext cx="2400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prstDash val="sysDot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4908" name="Oval 12"/>
              <p:cNvSpPr>
                <a:spLocks noChangeArrowheads="1"/>
              </p:cNvSpPr>
              <p:nvPr/>
            </p:nvSpPr>
            <p:spPr bwMode="auto">
              <a:xfrm>
                <a:off x="1344" y="1464"/>
                <a:ext cx="144" cy="144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66667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295950" name="Rectangle 23">
              <a:hlinkClick r:id="rId7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2131173" y="5485320"/>
              <a:ext cx="5391219" cy="5232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§3.5  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</a:rPr>
                <a:t>分子振动的半经典量子化</a:t>
              </a:r>
            </a:p>
          </p:txBody>
        </p:sp>
      </p:grpSp>
      <p:pic>
        <p:nvPicPr>
          <p:cNvPr id="295951" name="Picture 24" descr="01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382989" y="5156401"/>
            <a:ext cx="1524000" cy="130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8DF3CD-C557-429F-8065-0F19155C69CE}" type="slidenum">
              <a:rPr lang="zh-CN" altLang="en-US" smtClean="0"/>
              <a:t>2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教学目标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§3.1.1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893B0E-0A1A-4A28-B6F2-FE7E80598ADD}" type="slidenum">
              <a:rPr lang="zh-CN" altLang="en-US" smtClean="0"/>
              <a:t>3</a:t>
            </a:fld>
            <a:endParaRPr lang="zh-CN" altLang="en-US" dirty="0"/>
          </a:p>
        </p:txBody>
      </p:sp>
      <p:graphicFrame>
        <p:nvGraphicFramePr>
          <p:cNvPr id="5" name="图示 4"/>
          <p:cNvGraphicFramePr/>
          <p:nvPr/>
        </p:nvGraphicFramePr>
        <p:xfrm>
          <a:off x="357158" y="1428736"/>
          <a:ext cx="8215370" cy="50006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5"/>
          <p:cNvSpPr/>
          <p:nvPr/>
        </p:nvSpPr>
        <p:spPr bwMode="auto">
          <a:xfrm flipH="1">
            <a:off x="2240023" y="3595039"/>
            <a:ext cx="1080120" cy="463394"/>
          </a:xfrm>
          <a:custGeom>
            <a:avLst/>
            <a:gdLst>
              <a:gd name="T0" fmla="*/ 1059 w 1059"/>
              <a:gd name="T1" fmla="*/ 790 h 1054"/>
              <a:gd name="T2" fmla="*/ 882 w 1059"/>
              <a:gd name="T3" fmla="*/ 1054 h 1054"/>
              <a:gd name="T4" fmla="*/ 706 w 1059"/>
              <a:gd name="T5" fmla="*/ 790 h 1054"/>
              <a:gd name="T6" fmla="*/ 794 w 1059"/>
              <a:gd name="T7" fmla="*/ 790 h 1054"/>
              <a:gd name="T8" fmla="*/ 794 w 1059"/>
              <a:gd name="T9" fmla="*/ 263 h 1054"/>
              <a:gd name="T10" fmla="*/ 782 w 1059"/>
              <a:gd name="T11" fmla="*/ 224 h 1054"/>
              <a:gd name="T12" fmla="*/ 757 w 1059"/>
              <a:gd name="T13" fmla="*/ 197 h 1054"/>
              <a:gd name="T14" fmla="*/ 724 w 1059"/>
              <a:gd name="T15" fmla="*/ 181 h 1054"/>
              <a:gd name="T16" fmla="*/ 673 w 1059"/>
              <a:gd name="T17" fmla="*/ 176 h 1054"/>
              <a:gd name="T18" fmla="*/ 618 w 1059"/>
              <a:gd name="T19" fmla="*/ 176 h 1054"/>
              <a:gd name="T20" fmla="*/ 0 w 1059"/>
              <a:gd name="T21" fmla="*/ 176 h 1054"/>
              <a:gd name="T22" fmla="*/ 0 w 1059"/>
              <a:gd name="T23" fmla="*/ 0 h 1054"/>
              <a:gd name="T24" fmla="*/ 618 w 1059"/>
              <a:gd name="T25" fmla="*/ 0 h 1054"/>
              <a:gd name="T26" fmla="*/ 703 w 1059"/>
              <a:gd name="T27" fmla="*/ 1 h 1054"/>
              <a:gd name="T28" fmla="*/ 741 w 1059"/>
              <a:gd name="T29" fmla="*/ 7 h 1054"/>
              <a:gd name="T30" fmla="*/ 782 w 1059"/>
              <a:gd name="T31" fmla="*/ 14 h 1054"/>
              <a:gd name="T32" fmla="*/ 811 w 1059"/>
              <a:gd name="T33" fmla="*/ 25 h 1054"/>
              <a:gd name="T34" fmla="*/ 842 w 1059"/>
              <a:gd name="T35" fmla="*/ 40 h 1054"/>
              <a:gd name="T36" fmla="*/ 868 w 1059"/>
              <a:gd name="T37" fmla="*/ 56 h 1054"/>
              <a:gd name="T38" fmla="*/ 898 w 1059"/>
              <a:gd name="T39" fmla="*/ 83 h 1054"/>
              <a:gd name="T40" fmla="*/ 923 w 1059"/>
              <a:gd name="T41" fmla="*/ 113 h 1054"/>
              <a:gd name="T42" fmla="*/ 941 w 1059"/>
              <a:gd name="T43" fmla="*/ 144 h 1054"/>
              <a:gd name="T44" fmla="*/ 959 w 1059"/>
              <a:gd name="T45" fmla="*/ 179 h 1054"/>
              <a:gd name="T46" fmla="*/ 969 w 1059"/>
              <a:gd name="T47" fmla="*/ 222 h 1054"/>
              <a:gd name="T48" fmla="*/ 971 w 1059"/>
              <a:gd name="T49" fmla="*/ 263 h 1054"/>
              <a:gd name="T50" fmla="*/ 971 w 1059"/>
              <a:gd name="T51" fmla="*/ 790 h 1054"/>
              <a:gd name="T52" fmla="*/ 1059 w 1059"/>
              <a:gd name="T53" fmla="*/ 790 h 1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59" h="1054">
                <a:moveTo>
                  <a:pt x="1059" y="790"/>
                </a:moveTo>
                <a:lnTo>
                  <a:pt x="882" y="1054"/>
                </a:lnTo>
                <a:lnTo>
                  <a:pt x="706" y="790"/>
                </a:lnTo>
                <a:lnTo>
                  <a:pt x="794" y="790"/>
                </a:lnTo>
                <a:lnTo>
                  <a:pt x="794" y="263"/>
                </a:lnTo>
                <a:lnTo>
                  <a:pt x="782" y="224"/>
                </a:lnTo>
                <a:lnTo>
                  <a:pt x="757" y="197"/>
                </a:lnTo>
                <a:lnTo>
                  <a:pt x="724" y="181"/>
                </a:lnTo>
                <a:lnTo>
                  <a:pt x="673" y="176"/>
                </a:lnTo>
                <a:lnTo>
                  <a:pt x="618" y="176"/>
                </a:lnTo>
                <a:lnTo>
                  <a:pt x="0" y="176"/>
                </a:lnTo>
                <a:lnTo>
                  <a:pt x="0" y="0"/>
                </a:lnTo>
                <a:lnTo>
                  <a:pt x="618" y="0"/>
                </a:lnTo>
                <a:lnTo>
                  <a:pt x="703" y="1"/>
                </a:lnTo>
                <a:lnTo>
                  <a:pt x="741" y="7"/>
                </a:lnTo>
                <a:lnTo>
                  <a:pt x="782" y="14"/>
                </a:lnTo>
                <a:lnTo>
                  <a:pt x="811" y="25"/>
                </a:lnTo>
                <a:lnTo>
                  <a:pt x="842" y="40"/>
                </a:lnTo>
                <a:lnTo>
                  <a:pt x="868" y="56"/>
                </a:lnTo>
                <a:lnTo>
                  <a:pt x="898" y="83"/>
                </a:lnTo>
                <a:lnTo>
                  <a:pt x="923" y="113"/>
                </a:lnTo>
                <a:lnTo>
                  <a:pt x="941" y="144"/>
                </a:lnTo>
                <a:lnTo>
                  <a:pt x="959" y="179"/>
                </a:lnTo>
                <a:lnTo>
                  <a:pt x="969" y="222"/>
                </a:lnTo>
                <a:lnTo>
                  <a:pt x="971" y="263"/>
                </a:lnTo>
                <a:lnTo>
                  <a:pt x="971" y="790"/>
                </a:lnTo>
                <a:lnTo>
                  <a:pt x="1059" y="790"/>
                </a:lnTo>
                <a:close/>
              </a:path>
            </a:pathLst>
          </a:custGeom>
          <a:solidFill>
            <a:srgbClr val="92D05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5"/>
          <p:cNvSpPr/>
          <p:nvPr/>
        </p:nvSpPr>
        <p:spPr bwMode="auto">
          <a:xfrm>
            <a:off x="4973655" y="2585359"/>
            <a:ext cx="1080120" cy="463394"/>
          </a:xfrm>
          <a:custGeom>
            <a:avLst/>
            <a:gdLst>
              <a:gd name="T0" fmla="*/ 1059 w 1059"/>
              <a:gd name="T1" fmla="*/ 790 h 1054"/>
              <a:gd name="T2" fmla="*/ 882 w 1059"/>
              <a:gd name="T3" fmla="*/ 1054 h 1054"/>
              <a:gd name="T4" fmla="*/ 706 w 1059"/>
              <a:gd name="T5" fmla="*/ 790 h 1054"/>
              <a:gd name="T6" fmla="*/ 794 w 1059"/>
              <a:gd name="T7" fmla="*/ 790 h 1054"/>
              <a:gd name="T8" fmla="*/ 794 w 1059"/>
              <a:gd name="T9" fmla="*/ 263 h 1054"/>
              <a:gd name="T10" fmla="*/ 782 w 1059"/>
              <a:gd name="T11" fmla="*/ 224 h 1054"/>
              <a:gd name="T12" fmla="*/ 757 w 1059"/>
              <a:gd name="T13" fmla="*/ 197 h 1054"/>
              <a:gd name="T14" fmla="*/ 724 w 1059"/>
              <a:gd name="T15" fmla="*/ 181 h 1054"/>
              <a:gd name="T16" fmla="*/ 673 w 1059"/>
              <a:gd name="T17" fmla="*/ 176 h 1054"/>
              <a:gd name="T18" fmla="*/ 618 w 1059"/>
              <a:gd name="T19" fmla="*/ 176 h 1054"/>
              <a:gd name="T20" fmla="*/ 0 w 1059"/>
              <a:gd name="T21" fmla="*/ 176 h 1054"/>
              <a:gd name="T22" fmla="*/ 0 w 1059"/>
              <a:gd name="T23" fmla="*/ 0 h 1054"/>
              <a:gd name="T24" fmla="*/ 618 w 1059"/>
              <a:gd name="T25" fmla="*/ 0 h 1054"/>
              <a:gd name="T26" fmla="*/ 703 w 1059"/>
              <a:gd name="T27" fmla="*/ 1 h 1054"/>
              <a:gd name="T28" fmla="*/ 741 w 1059"/>
              <a:gd name="T29" fmla="*/ 7 h 1054"/>
              <a:gd name="T30" fmla="*/ 782 w 1059"/>
              <a:gd name="T31" fmla="*/ 14 h 1054"/>
              <a:gd name="T32" fmla="*/ 811 w 1059"/>
              <a:gd name="T33" fmla="*/ 25 h 1054"/>
              <a:gd name="T34" fmla="*/ 842 w 1059"/>
              <a:gd name="T35" fmla="*/ 40 h 1054"/>
              <a:gd name="T36" fmla="*/ 868 w 1059"/>
              <a:gd name="T37" fmla="*/ 56 h 1054"/>
              <a:gd name="T38" fmla="*/ 898 w 1059"/>
              <a:gd name="T39" fmla="*/ 83 h 1054"/>
              <a:gd name="T40" fmla="*/ 923 w 1059"/>
              <a:gd name="T41" fmla="*/ 113 h 1054"/>
              <a:gd name="T42" fmla="*/ 941 w 1059"/>
              <a:gd name="T43" fmla="*/ 144 h 1054"/>
              <a:gd name="T44" fmla="*/ 959 w 1059"/>
              <a:gd name="T45" fmla="*/ 179 h 1054"/>
              <a:gd name="T46" fmla="*/ 969 w 1059"/>
              <a:gd name="T47" fmla="*/ 222 h 1054"/>
              <a:gd name="T48" fmla="*/ 971 w 1059"/>
              <a:gd name="T49" fmla="*/ 263 h 1054"/>
              <a:gd name="T50" fmla="*/ 971 w 1059"/>
              <a:gd name="T51" fmla="*/ 790 h 1054"/>
              <a:gd name="T52" fmla="*/ 1059 w 1059"/>
              <a:gd name="T53" fmla="*/ 790 h 1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59" h="1054">
                <a:moveTo>
                  <a:pt x="1059" y="790"/>
                </a:moveTo>
                <a:lnTo>
                  <a:pt x="882" y="1054"/>
                </a:lnTo>
                <a:lnTo>
                  <a:pt x="706" y="790"/>
                </a:lnTo>
                <a:lnTo>
                  <a:pt x="794" y="790"/>
                </a:lnTo>
                <a:lnTo>
                  <a:pt x="794" y="263"/>
                </a:lnTo>
                <a:lnTo>
                  <a:pt x="782" y="224"/>
                </a:lnTo>
                <a:lnTo>
                  <a:pt x="757" y="197"/>
                </a:lnTo>
                <a:lnTo>
                  <a:pt x="724" y="181"/>
                </a:lnTo>
                <a:lnTo>
                  <a:pt x="673" y="176"/>
                </a:lnTo>
                <a:lnTo>
                  <a:pt x="618" y="176"/>
                </a:lnTo>
                <a:lnTo>
                  <a:pt x="0" y="176"/>
                </a:lnTo>
                <a:lnTo>
                  <a:pt x="0" y="0"/>
                </a:lnTo>
                <a:lnTo>
                  <a:pt x="618" y="0"/>
                </a:lnTo>
                <a:lnTo>
                  <a:pt x="703" y="1"/>
                </a:lnTo>
                <a:lnTo>
                  <a:pt x="741" y="7"/>
                </a:lnTo>
                <a:lnTo>
                  <a:pt x="782" y="14"/>
                </a:lnTo>
                <a:lnTo>
                  <a:pt x="811" y="25"/>
                </a:lnTo>
                <a:lnTo>
                  <a:pt x="842" y="40"/>
                </a:lnTo>
                <a:lnTo>
                  <a:pt x="868" y="56"/>
                </a:lnTo>
                <a:lnTo>
                  <a:pt x="898" y="83"/>
                </a:lnTo>
                <a:lnTo>
                  <a:pt x="923" y="113"/>
                </a:lnTo>
                <a:lnTo>
                  <a:pt x="941" y="144"/>
                </a:lnTo>
                <a:lnTo>
                  <a:pt x="959" y="179"/>
                </a:lnTo>
                <a:lnTo>
                  <a:pt x="969" y="222"/>
                </a:lnTo>
                <a:lnTo>
                  <a:pt x="971" y="263"/>
                </a:lnTo>
                <a:lnTo>
                  <a:pt x="971" y="790"/>
                </a:lnTo>
                <a:lnTo>
                  <a:pt x="1059" y="790"/>
                </a:lnTo>
                <a:close/>
              </a:path>
            </a:pathLst>
          </a:custGeom>
          <a:solidFill>
            <a:srgbClr val="92D05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609600" y="196032"/>
            <a:ext cx="8153400" cy="856704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zh-CN" dirty="0" smtClean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  </a:t>
            </a:r>
            <a:r>
              <a:rPr lang="zh-CN" altLang="en-US" dirty="0" smtClean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数值微分与数值积分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sz="quarter" idx="1"/>
          </p:nvPr>
        </p:nvSpPr>
        <p:spPr>
          <a:xfrm>
            <a:off x="590092" y="1360608"/>
            <a:ext cx="6116613" cy="64800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3600" dirty="0" smtClean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§3.1.1  </a:t>
            </a:r>
            <a:r>
              <a:rPr lang="zh-CN" altLang="en-US" sz="3600" dirty="0" smtClean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数值微分的算法</a:t>
            </a:r>
            <a:endParaRPr lang="en-US" altLang="zh-CN" sz="3600" dirty="0" smtClean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/>
            <a:endParaRPr lang="zh-CN" altLang="en-US" sz="2600" dirty="0" smtClean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圆角矩形 1"/>
              <p:cNvSpPr/>
              <p:nvPr/>
            </p:nvSpPr>
            <p:spPr>
              <a:xfrm>
                <a:off x="46342" y="2096556"/>
                <a:ext cx="4951141" cy="919401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400" kern="0" dirty="0" smtClean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泰勒展开公式</a:t>
                </a:r>
                <a:endParaRPr lang="en-US" altLang="zh-CN" sz="2400" kern="0" dirty="0" smtClean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200" i="1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h</m:t>
                          </m:r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zh-CN" altLang="en-US" sz="220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zh-CN" altLang="en-US" sz="2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zh-CN" altLang="en-US" sz="2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圆角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2" y="2096556"/>
                <a:ext cx="4951141" cy="919401"/>
              </a:xfrm>
              <a:prstGeom prst="roundRect">
                <a:avLst/>
              </a:prstGeom>
              <a:blipFill rotWithShape="1">
                <a:blip r:embed="rId3"/>
                <a:stretch>
                  <a:fillRect l="-13" t="-46" r="1" b="37"/>
                </a:stretch>
              </a:blip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圆角矩形 5"/>
              <p:cNvSpPr/>
              <p:nvPr/>
            </p:nvSpPr>
            <p:spPr>
              <a:xfrm>
                <a:off x="52343" y="4146529"/>
                <a:ext cx="4572000" cy="1223030"/>
              </a:xfrm>
              <a:prstGeom prst="roundRect">
                <a:avLst/>
              </a:prstGeom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 eaLnBrk="1" hangingPunct="1">
                  <a:lnSpc>
                    <a:spcPts val="3700"/>
                  </a:lnSpc>
                  <a:defRPr/>
                </a:pPr>
                <a:r>
                  <a:rPr lang="zh-CN" altLang="en-US" sz="2400" kern="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中心差分</a:t>
                </a:r>
                <a:r>
                  <a:rPr lang="en-US" altLang="zh-CN" sz="2400" kern="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2400" kern="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平均值</a:t>
                </a:r>
                <a:r>
                  <a:rPr lang="en-US" altLang="zh-CN" sz="2400" kern="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sz="2400" kern="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公式 </a:t>
                </a:r>
                <a:endParaRPr lang="en-US" altLang="zh-CN" sz="2400" kern="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eaLnBrk="1" hangingPunct="1">
                  <a:lnSpc>
                    <a:spcPts val="42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zh-CN" altLang="en-US" sz="2200" kern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圆角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3" y="4146529"/>
                <a:ext cx="4572000" cy="1223030"/>
              </a:xfrm>
              <a:prstGeom prst="roundRect">
                <a:avLst/>
              </a:prstGeom>
              <a:blipFill rotWithShape="1">
                <a:blip r:embed="rId4"/>
                <a:stretch>
                  <a:fillRect l="-6" t="-50" r="6" b="52"/>
                </a:stretch>
              </a:blip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圆角矩形 6"/>
              <p:cNvSpPr/>
              <p:nvPr/>
            </p:nvSpPr>
            <p:spPr>
              <a:xfrm>
                <a:off x="962416" y="5397386"/>
                <a:ext cx="8171128" cy="1194653"/>
              </a:xfrm>
              <a:prstGeom prst="roundRect">
                <a:avLst/>
              </a:prstGeom>
              <a:solidFill>
                <a:schemeClr val="l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 eaLnBrk="1" hangingPunct="1">
                  <a:lnSpc>
                    <a:spcPts val="3500"/>
                  </a:lnSpc>
                  <a:defRPr/>
                </a:pPr>
                <a:r>
                  <a:rPr lang="zh-CN" altLang="en-US" sz="2400" kern="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二阶导数的近似公式 </a:t>
                </a:r>
              </a:p>
              <a:p>
                <a:pPr eaLnBrk="1" hangingPunct="1">
                  <a:lnSpc>
                    <a:spcPts val="42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)−2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圆角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16" y="5397386"/>
                <a:ext cx="8171128" cy="1194653"/>
              </a:xfrm>
              <a:prstGeom prst="roundRect">
                <a:avLst/>
              </a:prstGeom>
              <a:blipFill rotWithShape="1">
                <a:blip r:embed="rId5"/>
                <a:stretch>
                  <a:fillRect l="-5" t="-44" r="4" b="9"/>
                </a:stretch>
              </a:blip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37572" y="6500131"/>
            <a:ext cx="2895600" cy="457200"/>
          </a:xfrm>
        </p:spPr>
        <p:txBody>
          <a:bodyPr/>
          <a:lstStyle/>
          <a:p>
            <a:pPr algn="ctr">
              <a:defRPr/>
            </a:pP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§3.1.1   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数值微分的算法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6804248" y="4635733"/>
            <a:ext cx="484632" cy="978408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0" indent="0" algn="ctr" eaLnBrk="1" hangingPunct="1">
              <a:buNone/>
            </a:pPr>
            <a:endParaRPr lang="zh-CN" altLang="en-US" sz="2400" dirty="0" smtClean="0">
              <a:solidFill>
                <a:srgbClr val="00B05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圆角矩形 2"/>
              <p:cNvSpPr/>
              <p:nvPr/>
            </p:nvSpPr>
            <p:spPr>
              <a:xfrm>
                <a:off x="1475656" y="3046770"/>
                <a:ext cx="7318468" cy="1964793"/>
              </a:xfrm>
              <a:prstGeom prst="roundRect">
                <a:avLst/>
              </a:prstGeom>
              <a:ln>
                <a:noFill/>
              </a:ln>
              <a:effectLst>
                <a:softEdge rad="12700"/>
              </a:effectLst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lvl="0" algn="ctr"/>
                <a:r>
                  <a:rPr lang="zh-CN" altLang="en-US" sz="2400" kern="0" dirty="0" smtClean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前差</a:t>
                </a:r>
                <a:r>
                  <a:rPr lang="zh-CN" altLang="en-US" sz="2400" kern="0" dirty="0" smtClean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公式       后差</a:t>
                </a:r>
                <a:r>
                  <a:rPr lang="zh-CN" altLang="en-US" sz="2400" kern="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公式</a:t>
                </a:r>
                <a:endParaRPr lang="en-US" altLang="zh-CN" sz="2400" kern="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 kern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zh-CN" altLang="en-US" sz="2200" ker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 ker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sz="2200" i="1" kern="0">
                              <a:latin typeface="Cambria Math" panose="02040503050406030204"/>
                            </a:rPr>
                          </m:ctrlPr>
                        </m:dPr>
                        <m:e>
                          <m:r>
                            <a:rPr lang="zh-CN" altLang="en-US" sz="2200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ker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 kern="0">
                              <a:latin typeface="Cambria Math" panose="02040503050406030204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sz="2200" i="1" kern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zh-CN" altLang="en-US" sz="2200" ker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altLang="zh-CN" sz="2200" ker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sz="2200" b="0" i="0" kern="0" smtClean="0">
                          <a:latin typeface="Cambria Math"/>
                        </a:rPr>
                        <m:t>          </m:t>
                      </m:r>
                    </m:oMath>
                  </m:oMathPara>
                </a14:m>
                <a:endParaRPr lang="en-US" altLang="zh-CN" sz="2200" b="0" i="0" kern="0" dirty="0" smtClean="0">
                  <a:latin typeface="Cambria Math"/>
                </a:endParaRPr>
              </a:p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0" kern="0" smtClean="0">
                          <a:latin typeface="Cambria Math"/>
                        </a:rPr>
                        <m:t>                                                                </m:t>
                      </m:r>
                      <m:sSup>
                        <m:sSupPr>
                          <m:ctrlPr>
                            <a:rPr lang="zh-CN" altLang="en-US" sz="2200" i="1" kern="0"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zh-CN" altLang="en-US" sz="2200" ker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 ker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ker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ker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ker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200" i="1" kern="0">
                              <a:latin typeface="Cambria Math" panose="02040503050406030204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sz="2200" i="1" kern="0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ker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r>
                            <a:rPr lang="zh-CN" altLang="en-US" sz="2200" ker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zh-CN" altLang="en-US" sz="2200" kern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圆角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046770"/>
                <a:ext cx="7318468" cy="1964793"/>
              </a:xfrm>
              <a:prstGeom prst="round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>
                <a:softEdge rad="12700"/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7" grpId="0" animBg="1"/>
      <p:bldP spid="2" grpId="0" animBg="1"/>
      <p:bldP spid="6" grpId="0" animBg="1"/>
      <p:bldP spid="7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452107" y="116632"/>
            <a:ext cx="8153400" cy="990600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dirty="0" smtClean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§3.1.2  </a:t>
            </a:r>
            <a:r>
              <a:rPr lang="zh-CN" altLang="en-US" sz="3600" dirty="0" smtClean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数值积分的算法</a:t>
            </a:r>
          </a:p>
        </p:txBody>
      </p:sp>
      <p:sp>
        <p:nvSpPr>
          <p:cNvPr id="6" name="矩形 5"/>
          <p:cNvSpPr/>
          <p:nvPr/>
        </p:nvSpPr>
        <p:spPr>
          <a:xfrm>
            <a:off x="3120577" y="293697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909412" y="1890766"/>
                <a:ext cx="5325176" cy="14011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40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412" y="1890766"/>
                <a:ext cx="5325176" cy="1401153"/>
              </a:xfrm>
              <a:prstGeom prst="rect">
                <a:avLst/>
              </a:prstGeom>
              <a:blipFill rotWithShape="1">
                <a:blip r:embed="rId2"/>
                <a:stretch>
                  <a:fillRect l="-11" t="-26" r="1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271617" y="3672056"/>
                <a:ext cx="4331570" cy="11301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h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        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h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617" y="3672056"/>
                <a:ext cx="4331570" cy="1130181"/>
              </a:xfrm>
              <a:prstGeom prst="rect">
                <a:avLst/>
              </a:prstGeom>
              <a:blipFill rotWithShape="1">
                <a:blip r:embed="rId3"/>
                <a:stretch>
                  <a:fillRect l="-5" t="-43" r="11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665669" y="5390462"/>
                <a:ext cx="3726276" cy="11298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h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669" y="5390462"/>
                <a:ext cx="3726276" cy="1129861"/>
              </a:xfrm>
              <a:prstGeom prst="rect">
                <a:avLst/>
              </a:prstGeom>
              <a:blipFill rotWithShape="1">
                <a:blip r:embed="rId4"/>
                <a:stretch>
                  <a:fillRect l="-15" t="-52" r="-152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148982" y="3223137"/>
                <a:ext cx="22322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solidFill>
                            <a:srgbClr val="1B00C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400" i="1" dirty="0" smtClean="0">
                          <a:solidFill>
                            <a:srgbClr val="1B00C0"/>
                          </a:solidFill>
                          <a:latin typeface="Cambria Math" panose="02040503050406030204" pitchFamily="18" charset="0"/>
                        </a:rPr>
                        <m:t> = (</m:t>
                      </m:r>
                      <m:r>
                        <a:rPr lang="en-US" altLang="zh-CN" sz="2400" i="1" dirty="0" smtClean="0">
                          <a:solidFill>
                            <a:srgbClr val="1B0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i="1" dirty="0" smtClean="0">
                          <a:solidFill>
                            <a:srgbClr val="1B00C0"/>
                          </a:solidFill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US" altLang="zh-CN" sz="2400" i="1" dirty="0" smtClean="0">
                          <a:solidFill>
                            <a:srgbClr val="1B00C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i="1" dirty="0" smtClean="0">
                          <a:solidFill>
                            <a:srgbClr val="1B00C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n-US" altLang="zh-CN" sz="2400" i="1" dirty="0" smtClean="0">
                          <a:solidFill>
                            <a:srgbClr val="1B0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40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982" y="3223137"/>
                <a:ext cx="2232248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6" t="-111" r="16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2827919" y="492879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两式平均</a:t>
            </a:r>
          </a:p>
        </p:txBody>
      </p:sp>
      <p:sp>
        <p:nvSpPr>
          <p:cNvPr id="9" name="椭圆形标注 8"/>
          <p:cNvSpPr/>
          <p:nvPr/>
        </p:nvSpPr>
        <p:spPr>
          <a:xfrm>
            <a:off x="6156176" y="2936974"/>
            <a:ext cx="2896815" cy="1461352"/>
          </a:xfrm>
          <a:prstGeom prst="wedgeEllipseCallout">
            <a:avLst>
              <a:gd name="adj1" fmla="val -59209"/>
              <a:gd name="adj2" fmla="val 137848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近似计算定积分的梯形公式</a:t>
            </a:r>
          </a:p>
        </p:txBody>
      </p:sp>
      <p:sp>
        <p:nvSpPr>
          <p:cNvPr id="15" name="页脚占位符 3"/>
          <p:cNvSpPr txBox="1"/>
          <p:nvPr/>
        </p:nvSpPr>
        <p:spPr>
          <a:xfrm>
            <a:off x="3011706" y="6409582"/>
            <a:ext cx="2895600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§3.1.2 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数值积分的算法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560" y="1416872"/>
            <a:ext cx="3749744" cy="72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lvl="0" eaLnBrk="1" fontAlgn="auto" hangingPunct="1">
              <a:spcAft>
                <a:spcPts val="0"/>
              </a:spcAft>
              <a:buClr>
                <a:srgbClr val="FEB80A"/>
              </a:buClr>
              <a:buSzPct val="60000"/>
              <a:defRPr/>
            </a:pPr>
            <a:r>
              <a:rPr lang="en-US" altLang="zh-CN" sz="32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32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定积分的梯形公式</a:t>
            </a:r>
            <a:endParaRPr lang="en-US" altLang="zh-CN" sz="3200" b="1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734" y="3113821"/>
            <a:ext cx="436852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381" y="4825850"/>
            <a:ext cx="436852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1A67E9DC-7E42-4DEE-85F2-9BC7B4DB8CAD}" type="slidenum">
              <a:rPr lang="zh-CN" altLang="en-US" sz="1400" b="1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6</a:t>
            </a:fld>
            <a:endParaRPr lang="zh-CN" altLang="en-US" sz="1400" b="1" dirty="0" smtClean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410" name="标题 1"/>
          <p:cNvSpPr>
            <a:spLocks noGrp="1"/>
          </p:cNvSpPr>
          <p:nvPr>
            <p:ph type="title" idx="4294967295"/>
          </p:nvPr>
        </p:nvSpPr>
        <p:spPr>
          <a:xfrm>
            <a:off x="266700" y="367868"/>
            <a:ext cx="6321524" cy="720000"/>
          </a:xfrm>
          <a:solidFill>
            <a:srgbClr val="E8F2D3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kumimoji="1" lang="en-US" altLang="zh-CN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kumimoji="1" lang="zh-CN" altLang="en-US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定积分的辛普生公式</a:t>
            </a:r>
            <a:r>
              <a:rPr kumimoji="1" lang="en-US" altLang="zh-CN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kumimoji="1" lang="zh-CN" altLang="en-US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精度更高</a:t>
            </a:r>
            <a:r>
              <a:rPr kumimoji="1" lang="en-US" altLang="zh-CN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kumimoji="1" lang="zh-CN" altLang="en-US" sz="3200" b="1" kern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338546" y="3429125"/>
                <a:ext cx="8676456" cy="202565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pPr marL="0" indent="0" algn="ctr">
                  <a:lnSpc>
                    <a:spcPts val="3800"/>
                  </a:lnSpc>
                  <a:buNone/>
                </a:pPr>
                <a:r>
                  <a:rPr lang="zh-CN" altLang="en-US" sz="2400" dirty="0" smtClean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对中间点    作</a:t>
                </a:r>
                <a:r>
                  <a:rPr lang="zh-CN" altLang="en-US" sz="240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泰勒展开</a:t>
                </a:r>
                <a:endParaRPr lang="en-US" altLang="zh-CN" sz="240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lnSpc>
                    <a:spcPts val="38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)≈</m:t>
                      </m:r>
                      <m:r>
                        <a:rPr lang="zh-CN" alt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≈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2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338546" y="3429125"/>
                <a:ext cx="8676456" cy="2025650"/>
              </a:xfrm>
              <a:prstGeom prst="rect">
                <a:avLst/>
              </a:prstGeom>
              <a:blipFill rotWithShape="1">
                <a:blip r:embed="rId3"/>
                <a:stretch>
                  <a:fillRect l="-111" t="-476" r="-104" b="-464"/>
                </a:stretch>
              </a:blip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425478" y="1552011"/>
            <a:ext cx="8956964" cy="461665"/>
            <a:chOff x="415835" y="1911420"/>
            <a:chExt cx="8956964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/>
                <p:cNvSpPr/>
                <p:nvPr/>
              </p:nvSpPr>
              <p:spPr>
                <a:xfrm>
                  <a:off x="415835" y="1911420"/>
                  <a:ext cx="295696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rPr>
                          <m:t>令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)/(2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835" y="1911420"/>
                  <a:ext cx="2956963" cy="46166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/>
                <p:cNvSpPr/>
                <p:nvPr/>
              </p:nvSpPr>
              <p:spPr>
                <a:xfrm>
                  <a:off x="3841220" y="1911420"/>
                  <a:ext cx="553157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以</a:t>
                  </a:r>
                  <a14:m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zh-CN" altLang="en-US" sz="2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标记偶数节点</a:t>
                  </a:r>
                  <a:r>
                    <a:rPr lang="en-US" altLang="zh-CN" sz="2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=0,1,2,</a:t>
                  </a:r>
                  <a14:m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altLang="zh-CN" sz="2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,</a:t>
                  </a:r>
                  <a14:m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-1) </a:t>
                  </a:r>
                  <a:endPara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1220" y="1911420"/>
                  <a:ext cx="5531579" cy="461665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页脚占位符 3"/>
          <p:cNvSpPr txBox="1"/>
          <p:nvPr/>
        </p:nvSpPr>
        <p:spPr>
          <a:xfrm>
            <a:off x="3011706" y="6409582"/>
            <a:ext cx="2895600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§3.1.2 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数值积分的算法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下箭头 13"/>
          <p:cNvSpPr/>
          <p:nvPr/>
        </p:nvSpPr>
        <p:spPr>
          <a:xfrm rot="20813449">
            <a:off x="2300179" y="2004968"/>
            <a:ext cx="475876" cy="529380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  <a:tileRect/>
          </a:gra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4302695" y="3583456"/>
            <a:ext cx="489112" cy="640927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  <a:tileRect/>
          </a:gra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下箭头 16"/>
          <p:cNvSpPr/>
          <p:nvPr/>
        </p:nvSpPr>
        <p:spPr>
          <a:xfrm rot="965845">
            <a:off x="5592734" y="1996441"/>
            <a:ext cx="475876" cy="529380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  <a:tileRect/>
          </a:gra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28860" y="2500306"/>
            <a:ext cx="3416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2400" dirty="0" smtClean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lang="zh-CN" altLang="en-US" sz="2400" dirty="0" smtClean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段区间包含三个节点</a:t>
            </a:r>
            <a:endParaRPr lang="zh-CN" altLang="en-US" sz="2400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198539" y="2928934"/>
          <a:ext cx="5802345" cy="614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4" name="Equation" r:id="rId6" imgW="2159000" imgH="228600" progId="">
                  <p:embed/>
                </p:oleObj>
              </mc:Choice>
              <mc:Fallback>
                <p:oleObj name="Equation" r:id="rId6" imgW="2159000" imgH="2286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39" y="2928934"/>
                        <a:ext cx="5802345" cy="6143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090048" y="4277239"/>
          <a:ext cx="704694" cy="528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5" name="Equation" r:id="rId8" imgW="304800" imgH="228600" progId="">
                  <p:embed/>
                </p:oleObj>
              </mc:Choice>
              <mc:Fallback>
                <p:oleObj name="Equation" r:id="rId8" imgW="304800" imgH="2286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048" y="4277239"/>
                        <a:ext cx="704694" cy="528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4AB69CC3-41E7-4997-BFD9-AEFB2A1CE005}" type="slidenum">
              <a:rPr lang="zh-CN" altLang="en-US" sz="1400" b="1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7</a:t>
            </a:fld>
            <a:endParaRPr lang="zh-CN" altLang="en-US" sz="1400" b="1" dirty="0" smtClean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549064" y="1550006"/>
                <a:ext cx="5581656" cy="6428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limLoc m:val="subSup"/>
                        <m:grow m:val="on"/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sup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zh-CN" altLang="en-US" sz="2400" i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+4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altLang="zh-CN" sz="2400" dirty="0" smtClean="0"/>
                  <a:t>)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064" y="1550006"/>
                <a:ext cx="5581656" cy="642868"/>
              </a:xfrm>
              <a:prstGeom prst="rect">
                <a:avLst/>
              </a:prstGeom>
              <a:blipFill rotWithShape="1">
                <a:blip r:embed="rId2"/>
                <a:stretch>
                  <a:fillRect l="-5" t="-94" r="5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906823" y="2887722"/>
                <a:ext cx="4937570" cy="8476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zh-CN" altLang="en-US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nary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+4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zh-CN" altLang="en-US" sz="24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altLang="zh-CN" sz="2400" dirty="0" smtClean="0"/>
                  <a:t>)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823" y="2887722"/>
                <a:ext cx="4937570" cy="847604"/>
              </a:xfrm>
              <a:prstGeom prst="rect">
                <a:avLst/>
              </a:prstGeom>
              <a:blipFill rotWithShape="1">
                <a:blip r:embed="rId3"/>
                <a:stretch>
                  <a:fillRect l="-11" t="-44" r="-417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圆角矩形 4"/>
              <p:cNvSpPr/>
              <p:nvPr/>
            </p:nvSpPr>
            <p:spPr>
              <a:xfrm>
                <a:off x="1217929" y="4515163"/>
                <a:ext cx="6118303" cy="1894419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marL="0" indent="0" algn="ctr">
                  <a:buNone/>
                </a:pPr>
                <a:r>
                  <a:rPr lang="zh-CN" altLang="en-US" sz="280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辛普生公式</a:t>
                </a:r>
                <a:endParaRPr lang="en-US" altLang="zh-CN" sz="280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+2</m:t>
                          </m:r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+4</m:t>
                          </m:r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2400" dirty="0" smtClean="0"/>
              </a:p>
            </p:txBody>
          </p:sp>
        </mc:Choice>
        <mc:Fallback xmlns="">
          <p:sp>
            <p:nvSpPr>
              <p:cNvPr id="5" name="圆角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929" y="4515163"/>
                <a:ext cx="6118303" cy="1894419"/>
              </a:xfrm>
              <a:prstGeom prst="roundRect">
                <a:avLst/>
              </a:prstGeom>
              <a:blipFill rotWithShape="1">
                <a:blip r:embed="rId4"/>
                <a:stretch>
                  <a:fillRect l="-166" t="-519" r="-154" b="-475"/>
                </a:stretch>
              </a:blip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4339892" y="758296"/>
            <a:ext cx="24270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泰勒展开式代替原来的积分函数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441881" y="2314562"/>
                <a:ext cx="127791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1B00C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sz="240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求和</a:t>
                </a: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881" y="2314562"/>
                <a:ext cx="1277914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4" t="-135" r="27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下箭头 7"/>
          <p:cNvSpPr/>
          <p:nvPr/>
        </p:nvSpPr>
        <p:spPr>
          <a:xfrm>
            <a:off x="3689189" y="3874236"/>
            <a:ext cx="686420" cy="640927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  <a:tileRect/>
          </a:gradFill>
        </p:spPr>
        <p:txBody>
          <a:bodyPr rtlCol="0" anchor="ctr">
            <a:spAutoFit/>
          </a:bodyPr>
          <a:lstStyle/>
          <a:p>
            <a:pPr algn="ctr"/>
            <a:endParaRPr lang="zh-CN" altLang="en-US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下箭头 16"/>
          <p:cNvSpPr/>
          <p:nvPr/>
        </p:nvSpPr>
        <p:spPr>
          <a:xfrm>
            <a:off x="3689188" y="2314562"/>
            <a:ext cx="686420" cy="640927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  <a:tileRect/>
          </a:gradFill>
        </p:spPr>
        <p:txBody>
          <a:bodyPr rtlCol="0" anchor="ctr">
            <a:spAutoFit/>
          </a:bodyPr>
          <a:lstStyle/>
          <a:p>
            <a:pPr algn="ctr"/>
            <a:endParaRPr lang="zh-CN" altLang="en-US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441881" y="3874236"/>
            <a:ext cx="12779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整理得</a:t>
            </a:r>
            <a:endParaRPr lang="zh-CN" altLang="en-US" sz="2400" dirty="0">
              <a:solidFill>
                <a:srgbClr val="1B0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下箭头 11"/>
          <p:cNvSpPr/>
          <p:nvPr/>
        </p:nvSpPr>
        <p:spPr>
          <a:xfrm>
            <a:off x="3689188" y="909079"/>
            <a:ext cx="686420" cy="640927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  <a:tileRect/>
          </a:gradFill>
        </p:spPr>
        <p:txBody>
          <a:bodyPr rtlCol="0" anchor="ctr">
            <a:spAutoFit/>
          </a:bodyPr>
          <a:lstStyle/>
          <a:p>
            <a:pPr algn="ctr"/>
            <a:endParaRPr lang="zh-CN" altLang="en-US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518653" y="189310"/>
            <a:ext cx="12779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接上式</a:t>
            </a:r>
            <a:endParaRPr lang="zh-CN" altLang="en-US" sz="2400" dirty="0">
              <a:solidFill>
                <a:srgbClr val="1B0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页脚占位符 3"/>
          <p:cNvSpPr txBox="1"/>
          <p:nvPr/>
        </p:nvSpPr>
        <p:spPr>
          <a:xfrm>
            <a:off x="3011706" y="6409582"/>
            <a:ext cx="2895600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§3.1.2 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数值积分的算法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7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47564" y="2276872"/>
            <a:ext cx="7848872" cy="13542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noFill/>
          </a:ln>
        </p:spPr>
        <p:txBody>
          <a:bodyPr wrap="square">
            <a:spAutoFit/>
          </a:bodyPr>
          <a:lstStyle/>
          <a:p>
            <a:pPr lvl="0"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&gt;&gt;a=[1,4,5,-2];</a:t>
            </a:r>
          </a:p>
          <a:p>
            <a:pPr lvl="0"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&gt;&gt;diff(a) </a:t>
            </a:r>
          </a:p>
          <a:p>
            <a:pPr lvl="0"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400" dirty="0" err="1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ans</a:t>
            </a: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= 3 1 -7              </a:t>
            </a:r>
            <a:r>
              <a:rPr lang="en-US" altLang="zh-CN" sz="2400" dirty="0" smtClean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         </a:t>
            </a:r>
            <a:r>
              <a:rPr lang="zh-CN" altLang="en-US" sz="2400" dirty="0" smtClean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％</a:t>
            </a:r>
            <a:r>
              <a:rPr lang="zh-CN" altLang="en-US" sz="2400" dirty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矢量的差分是后项减</a:t>
            </a:r>
            <a:r>
              <a:rPr lang="zh-CN" altLang="en-US" sz="2400" dirty="0" smtClean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前项</a:t>
            </a:r>
            <a:endParaRPr lang="en-US" altLang="zh-CN" sz="2400" dirty="0">
              <a:solidFill>
                <a:srgbClr val="1B00C0"/>
              </a:solidFill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8153400" cy="856704"/>
          </a:xfrm>
        </p:spPr>
        <p:txBody>
          <a:bodyPr/>
          <a:lstStyle/>
          <a:p>
            <a:pPr algn="ctr" eaLnBrk="1" hangingPunct="1"/>
            <a:r>
              <a:rPr lang="en-US" altLang="zh-CN" sz="4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§3.2  </a:t>
            </a:r>
            <a:r>
              <a:rPr lang="en-US" altLang="zh-CN" sz="4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MATLAB</a:t>
            </a:r>
            <a:r>
              <a:rPr lang="zh-CN" altLang="en-US" sz="4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指令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573596" y="1437683"/>
            <a:ext cx="5870612" cy="72000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Autofit/>
          </a:bodyPr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3600" dirty="0" smtClean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§3.2.1 </a:t>
            </a:r>
            <a:r>
              <a:rPr lang="zh-CN" altLang="en-US" sz="3600" dirty="0" smtClean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差分运算</a:t>
            </a:r>
            <a:r>
              <a:rPr lang="zh-CN" altLang="en-US" sz="3600" dirty="0">
                <a:solidFill>
                  <a:srgbClr val="0070C0"/>
                </a:solidFill>
              </a:rPr>
              <a:t>（</a:t>
            </a:r>
            <a:r>
              <a:rPr lang="en-US" altLang="zh-CN" sz="36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</a:t>
            </a:r>
            <a:r>
              <a:rPr lang="zh-CN" altLang="en-US" sz="36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altLang="zh-CN" sz="3600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557" name="Object 2"/>
          <p:cNvGraphicFramePr>
            <a:graphicFrameLocks noChangeAspect="1"/>
          </p:cNvGraphicFramePr>
          <p:nvPr/>
        </p:nvGraphicFramePr>
        <p:xfrm>
          <a:off x="7164288" y="1412776"/>
          <a:ext cx="1503525" cy="1312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8" name="Equation" r:id="rId3" imgW="698500" imgH="609600" progId="">
                  <p:embed/>
                </p:oleObj>
              </mc:Choice>
              <mc:Fallback>
                <p:oleObj name="Equation" r:id="rId3" imgW="698500" imgH="609600" progId="">
                  <p:embed/>
                  <p:pic>
                    <p:nvPicPr>
                      <p:cNvPr id="0" name="Picture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1412776"/>
                        <a:ext cx="1503525" cy="1312168"/>
                      </a:xfrm>
                      <a:prstGeom prst="rect">
                        <a:avLst/>
                      </a:prstGeom>
                      <a:solidFill>
                        <a:srgbClr val="FFF1CE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页脚占位符 3"/>
          <p:cNvSpPr txBox="1"/>
          <p:nvPr/>
        </p:nvSpPr>
        <p:spPr>
          <a:xfrm>
            <a:off x="3011706" y="6409582"/>
            <a:ext cx="2895600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§3.2.1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差分运算指令</a:t>
            </a: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diff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7564" y="3804405"/>
            <a:ext cx="7848872" cy="26930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&gt;&gt;b = [0.95013,       0.48598;</a:t>
            </a:r>
          </a:p>
          <a:p>
            <a:pPr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   0.23114,       0.8913;</a:t>
            </a:r>
          </a:p>
          <a:p>
            <a:pPr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   0.60684,       0.7621]</a:t>
            </a:r>
          </a:p>
          <a:p>
            <a:pPr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&gt;&gt;diff(b)                     </a:t>
            </a:r>
            <a:r>
              <a:rPr lang="en-US" altLang="zh-CN" sz="2400" dirty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400" dirty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％对矩阵求差分是对列矢量作差分</a:t>
            </a:r>
          </a:p>
          <a:p>
            <a:pPr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400" dirty="0" err="1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ans</a:t>
            </a: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= -0.71899      0.40532</a:t>
            </a:r>
          </a:p>
          <a:p>
            <a:pPr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   0.3757      -0.1292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613996" y="186992"/>
            <a:ext cx="7772400" cy="862013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zh-CN" sz="3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§3.2.2  </a:t>
            </a:r>
            <a:r>
              <a:rPr lang="zh-CN" altLang="en-US" sz="3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梯度计算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36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gradient</a:t>
            </a:r>
            <a:r>
              <a:rPr lang="zh-CN" altLang="en-US" sz="3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635625" y="1556792"/>
            <a:ext cx="7772400" cy="1656184"/>
          </a:xfrm>
        </p:spPr>
        <p:txBody>
          <a:bodyPr>
            <a:noAutofit/>
          </a:bodyPr>
          <a:lstStyle/>
          <a:p>
            <a:pPr eaLnBrk="1" hangingPunct="1">
              <a:buClr>
                <a:srgbClr val="1B00C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1B00C0"/>
                </a:solidFill>
              </a:rPr>
              <a:t>梯度：</a:t>
            </a:r>
            <a:endParaRPr lang="en-US" altLang="zh-CN" sz="2800" dirty="0" smtClean="0">
              <a:solidFill>
                <a:srgbClr val="1B00C0"/>
              </a:solidFill>
            </a:endParaRPr>
          </a:p>
          <a:p>
            <a:pPr marL="0" indent="0" eaLnBrk="1" hangingPunct="1">
              <a:buNone/>
            </a:pPr>
            <a:r>
              <a:rPr lang="zh-CN" altLang="en-US" sz="2800" dirty="0" smtClean="0"/>
              <a:t>    相邻两个差商值的平均</a:t>
            </a:r>
            <a:r>
              <a:rPr lang="zh-CN" altLang="en-US" sz="2800" dirty="0"/>
              <a:t>值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即用导数的中心</a:t>
            </a:r>
            <a:endParaRPr lang="en-US" altLang="zh-CN" sz="2800" dirty="0" smtClean="0"/>
          </a:p>
          <a:p>
            <a:pPr marL="0" indent="0" eaLnBrk="1" hangingPunct="1"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 </a:t>
            </a:r>
            <a:r>
              <a:rPr lang="zh-CN" altLang="en-US" sz="2800" dirty="0" smtClean="0"/>
              <a:t>差分式计算</a:t>
            </a:r>
            <a:r>
              <a:rPr lang="en-US" altLang="zh-CN" sz="2800" dirty="0" smtClean="0"/>
              <a:t>)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</p:txBody>
      </p:sp>
      <p:sp>
        <p:nvSpPr>
          <p:cNvPr id="6" name="页脚占位符 3"/>
          <p:cNvSpPr txBox="1"/>
          <p:nvPr/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§3.2.2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梯度计算</a:t>
            </a:r>
            <a:r>
              <a:rPr lang="zh-CN" altLang="en-US" dirty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gradient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017712" y="3129533"/>
                <a:ext cx="8126288" cy="30623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indent="-457200" eaLnBrk="1" fontAlgn="auto" hangingPunct="1">
                  <a:spcBef>
                    <a:spcPts val="645"/>
                  </a:spcBef>
                  <a:spcAft>
                    <a:spcPts val="0"/>
                  </a:spcAft>
                  <a:buClr>
                    <a:srgbClr val="1B00C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80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一维矢量的梯度：</a:t>
                </a:r>
                <a:endParaRPr lang="en-US" altLang="zh-CN" sz="280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lvl="1" eaLnBrk="1" fontAlgn="auto" hangingPunct="1">
                  <a:spcBef>
                    <a:spcPts val="645"/>
                  </a:spcBef>
                  <a:spcAft>
                    <a:spcPts val="0"/>
                  </a:spcAft>
                  <a:buClr>
                    <a:srgbClr val="FEB80A"/>
                  </a:buClr>
                  <a:buSzPct val="60000"/>
                </a:pPr>
                <a:r>
                  <a:rPr lang="zh-CN" altLang="en-US" sz="2800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 用中心差分式计算导数，在端点直接用差     </a:t>
                </a:r>
                <a:endParaRPr lang="en-US" altLang="zh-CN" sz="28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lvl="1" eaLnBrk="1" fontAlgn="auto" hangingPunct="1">
                  <a:spcBef>
                    <a:spcPts val="645"/>
                  </a:spcBef>
                  <a:spcAft>
                    <a:spcPts val="0"/>
                  </a:spcAft>
                  <a:buClr>
                    <a:srgbClr val="FEB80A"/>
                  </a:buClr>
                  <a:buSzPct val="60000"/>
                </a:pPr>
                <a:r>
                  <a:rPr lang="zh-CN" altLang="en-US" sz="2800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商作为近似值。自变量就是矩阵元素的编号，  </a:t>
                </a:r>
                <a:endParaRPr lang="en-US" altLang="zh-CN" sz="28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lvl="1" eaLnBrk="1" fontAlgn="auto" hangingPunct="1">
                  <a:spcBef>
                    <a:spcPts val="645"/>
                  </a:spcBef>
                  <a:spcAft>
                    <a:spcPts val="0"/>
                  </a:spcAft>
                  <a:buClr>
                    <a:srgbClr val="FEB80A"/>
                  </a:buClr>
                  <a:buSzPct val="60000"/>
                </a:pPr>
                <a:r>
                  <a:rPr lang="zh-CN" altLang="en-US" sz="2800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所以步长是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280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 indent="-457200" eaLnBrk="1" fontAlgn="auto" hangingPunct="1">
                  <a:spcBef>
                    <a:spcPts val="645"/>
                  </a:spcBef>
                  <a:spcAft>
                    <a:spcPts val="0"/>
                  </a:spcAft>
                  <a:buClr>
                    <a:srgbClr val="1B00C0"/>
                  </a:buClr>
                  <a:buSzPct val="80000"/>
                  <a:buFont typeface="Wingdings" panose="05000000000000000000" pitchFamily="2" charset="2"/>
                  <a:buChar char="Ø"/>
                </a:pPr>
                <a:r>
                  <a:rPr lang="zh-CN" altLang="en-US" sz="280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矩阵的梯度：</a:t>
                </a:r>
                <a:endParaRPr lang="en-US" altLang="zh-CN" sz="280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lvl="1" eaLnBrk="1" fontAlgn="auto" hangingPunct="1">
                  <a:spcBef>
                    <a:spcPts val="645"/>
                  </a:spcBef>
                  <a:spcAft>
                    <a:spcPts val="0"/>
                  </a:spcAft>
                  <a:buClr>
                    <a:srgbClr val="FEB80A"/>
                  </a:buClr>
                  <a:buSzPct val="60000"/>
                </a:pPr>
                <a:r>
                  <a:rPr lang="zh-CN" altLang="en-US" sz="2800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行向量与列向量两个方向的偏导数。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12" y="3129533"/>
                <a:ext cx="8126288" cy="3062377"/>
              </a:xfrm>
              <a:prstGeom prst="rect">
                <a:avLst/>
              </a:prstGeom>
              <a:blipFill rotWithShape="1">
                <a:blip r:embed="rId2"/>
                <a:stretch>
                  <a:fillRect l="-5" t="-8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460978A5-7759-4B78-BC57-57F0DC6FE607}" type="slidenum">
              <a:rPr lang="zh-CN" altLang="en-US" sz="1400" b="1" smtClean="0">
                <a:solidFill>
                  <a:schemeClr val="tx1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10</a:t>
            </a:fld>
            <a:endParaRPr lang="zh-CN" altLang="en-US" sz="1400" b="1" dirty="0" smtClean="0">
              <a:solidFill>
                <a:schemeClr val="tx1"/>
              </a:solidFill>
              <a:latin typeface="Cambria Math" panose="020405030504060302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内容占位符 2"/>
          <p:cNvSpPr>
            <a:spLocks noGrp="1"/>
          </p:cNvSpPr>
          <p:nvPr>
            <p:ph idx="4294967295"/>
          </p:nvPr>
        </p:nvSpPr>
        <p:spPr>
          <a:xfrm>
            <a:off x="609602" y="836712"/>
            <a:ext cx="8105802" cy="5664122"/>
          </a:xfrm>
          <a:ln w="28575">
            <a:solidFill>
              <a:srgbClr val="1B00C0"/>
            </a:solidFill>
          </a:ln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&gt;&gt; a  =    [1,  5,  4,  2,  7;</a:t>
            </a:r>
          </a:p>
          <a:p>
            <a:pPr marL="0" indent="0"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2,  1,  8,  3,  4]</a:t>
            </a:r>
          </a:p>
          <a:p>
            <a:pPr marL="0" indent="0"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&gt;&gt; [</a:t>
            </a:r>
            <a:r>
              <a:rPr lang="en-US" altLang="zh-CN" sz="28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px,py</a:t>
            </a: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]=gradient(a)</a:t>
            </a:r>
          </a:p>
          <a:p>
            <a:pPr marL="0" indent="0" eaLnBrk="1" hangingPunct="1">
              <a:buNone/>
            </a:pPr>
            <a:r>
              <a:rPr lang="en-US" altLang="zh-CN" sz="28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px</a:t>
            </a: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4   1.5  -1.5  1.5  5               </a:t>
            </a:r>
            <a:endParaRPr lang="zh-CN" altLang="en-US" sz="2800" dirty="0" smtClean="0">
              <a:solidFill>
                <a:srgbClr val="1B0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    3      1    -2    1    </a:t>
            </a:r>
          </a:p>
          <a:p>
            <a:pPr marL="0" indent="0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zh-CN" altLang="en-US" sz="28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％行向量方向的偏导数</a:t>
            </a:r>
            <a:r>
              <a:rPr lang="en-US" altLang="zh-CN" sz="28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CN" altLang="en-US" sz="28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第一个元素</a:t>
            </a:r>
            <a:r>
              <a:rPr lang="en-US" altLang="zh-CN" sz="28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4=5-1</a:t>
            </a:r>
            <a:endParaRPr lang="zh-CN" altLang="en-US" sz="28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None/>
            </a:pP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zh-CN" altLang="en-US" sz="28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％第二个元素</a:t>
            </a:r>
            <a:r>
              <a:rPr lang="en-US" altLang="zh-CN" sz="28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1.5=[(5-1)+(4-5)]/2,</a:t>
            </a:r>
            <a:r>
              <a:rPr lang="zh-CN" altLang="en-US" sz="28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其余类推</a:t>
            </a:r>
            <a:endParaRPr lang="en-US" altLang="zh-CN" sz="2800" dirty="0" smtClean="0">
              <a:solidFill>
                <a:srgbClr val="1B0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None/>
            </a:pPr>
            <a:endParaRPr lang="zh-CN" altLang="en-US" sz="2800" dirty="0" smtClean="0">
              <a:solidFill>
                <a:srgbClr val="1B0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None/>
            </a:pPr>
            <a:r>
              <a:rPr lang="en-US" altLang="zh-CN" sz="28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</a:t>
            </a: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  -4   4   1  -3          </a:t>
            </a:r>
            <a:r>
              <a:rPr lang="zh-CN" altLang="en-US" sz="28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％列向量方向的偏导数</a:t>
            </a:r>
          </a:p>
          <a:p>
            <a:pPr marL="0" indent="0" eaLnBrk="1" hangingPunct="1"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zh-CN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-4   4   1  -3</a:t>
            </a:r>
          </a:p>
        </p:txBody>
      </p:sp>
      <p:sp>
        <p:nvSpPr>
          <p:cNvPr id="5" name="页脚占位符 3"/>
          <p:cNvSpPr txBox="1"/>
          <p:nvPr/>
        </p:nvSpPr>
        <p:spPr>
          <a:xfrm>
            <a:off x="2843808" y="6390873"/>
            <a:ext cx="2895600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§3.2.2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梯度计算指令</a:t>
            </a: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gradient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1AAA2373-43C8-4A33-A272-14EFF13D4616}" type="slidenum">
              <a:rPr lang="zh-CN" altLang="en-US" sz="1400" smtClean="0">
                <a:solidFill>
                  <a:srgbClr val="FFFFCC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11</a:t>
            </a:fld>
            <a:endParaRPr lang="zh-CN" altLang="en-US" sz="1400" smtClean="0">
              <a:solidFill>
                <a:srgbClr val="FFFFCC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sz="2800" dirty="0" smtClean="0">
                    <a:solidFill>
                      <a:schemeClr val="tx2"/>
                    </a:solidFill>
                  </a:rPr>
                  <a:t>设矩阵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sz="2800" dirty="0" smtClean="0">
                    <a:solidFill>
                      <a:schemeClr val="tx2"/>
                    </a:solidFill>
                  </a:rPr>
                  <a:t>是函数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err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dirty="0" err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 dirty="0" err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 smtClean="0">
                    <a:solidFill>
                      <a:schemeClr val="tx2"/>
                    </a:solidFill>
                  </a:rPr>
                  <a:t>离散化后所得到。</a:t>
                </a:r>
                <a:endParaRPr lang="en-US" altLang="zh-CN" sz="2800" dirty="0" smtClean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sz="2800" dirty="0" smtClean="0">
                    <a:solidFill>
                      <a:schemeClr val="tx2"/>
                    </a:solidFill>
                  </a:rPr>
                  <a:t>二维的</a:t>
                </a:r>
                <a:r>
                  <a:rPr lang="en-US" altLang="zh-CN" sz="2800" dirty="0" smtClean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del2</a:t>
                </a:r>
                <a:r>
                  <a:rPr lang="zh-CN" altLang="en-US" sz="2800" dirty="0" smtClean="0">
                    <a:solidFill>
                      <a:schemeClr val="tx2"/>
                    </a:solidFill>
                  </a:rPr>
                  <a:t>的计算公式定义为</a:t>
                </a:r>
                <a:endParaRPr lang="en-US" altLang="zh-CN" sz="2800" dirty="0" smtClean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en-US" altLang="zh-CN" sz="2800" dirty="0" smtClean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en-US" altLang="zh-CN" sz="2800" dirty="0" smtClean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sz="2800" dirty="0" smtClean="0">
                    <a:solidFill>
                      <a:schemeClr val="tx2"/>
                    </a:solidFill>
                  </a:rPr>
                  <a:t>矩阵内部的元素是</a:t>
                </a:r>
                <a:endParaRPr lang="en-US" altLang="zh-CN" sz="2800" dirty="0" smtClean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zh-CN" altLang="en-US" sz="2800" dirty="0" smtClean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zh-CN" altLang="en-US" sz="2800" dirty="0" smtClean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6" r="6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27" name="标题 1"/>
          <p:cNvSpPr>
            <a:spLocks noGrp="1"/>
          </p:cNvSpPr>
          <p:nvPr>
            <p:ph type="title"/>
          </p:nvPr>
        </p:nvSpPr>
        <p:spPr>
          <a:xfrm>
            <a:off x="533400" y="227165"/>
            <a:ext cx="7772400" cy="862013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zh-CN" sz="3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§3.2.3 </a:t>
            </a:r>
            <a:r>
              <a:rPr lang="zh-CN" altLang="en-US" sz="3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离散拉普拉斯算符</a:t>
            </a:r>
            <a:r>
              <a:rPr lang="en-US" altLang="zh-CN" sz="3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36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del2</a:t>
            </a:r>
            <a:r>
              <a:rPr lang="en-US" altLang="zh-CN" sz="3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36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6629" name="Object 2"/>
          <p:cNvGraphicFramePr>
            <a:graphicFrameLocks noChangeAspect="1"/>
          </p:cNvGraphicFramePr>
          <p:nvPr/>
        </p:nvGraphicFramePr>
        <p:xfrm>
          <a:off x="2591594" y="2649099"/>
          <a:ext cx="4480736" cy="1167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6" name="Equation" r:id="rId4" imgW="1854200" imgH="482600" progId="">
                  <p:embed/>
                </p:oleObj>
              </mc:Choice>
              <mc:Fallback>
                <p:oleObj name="Equation" r:id="rId4" imgW="1854200" imgH="482600" progId="">
                  <p:embed/>
                  <p:pic>
                    <p:nvPicPr>
                      <p:cNvPr id="0" name="Picture 3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594" y="2649099"/>
                        <a:ext cx="4480736" cy="11673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7"/>
          <p:cNvGraphicFramePr>
            <a:graphicFrameLocks noChangeAspect="1"/>
          </p:cNvGraphicFramePr>
          <p:nvPr/>
        </p:nvGraphicFramePr>
        <p:xfrm>
          <a:off x="1357290" y="4357694"/>
          <a:ext cx="6611732" cy="1066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47" name="Equation" r:id="rId6" imgW="2438400" imgH="393700" progId="">
                  <p:embed/>
                </p:oleObj>
              </mc:Choice>
              <mc:Fallback>
                <p:oleObj name="Equation" r:id="rId6" imgW="2438400" imgH="393700" progId="">
                  <p:embed/>
                  <p:pic>
                    <p:nvPicPr>
                      <p:cNvPr id="0" name="Picture 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290" y="4357694"/>
                        <a:ext cx="6611732" cy="10669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页脚占位符 3"/>
          <p:cNvSpPr txBox="1"/>
          <p:nvPr/>
        </p:nvSpPr>
        <p:spPr>
          <a:xfrm>
            <a:off x="2843808" y="6390873"/>
            <a:ext cx="338437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§3.2.3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离散拉普拉斯算符（</a:t>
            </a: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del2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2336154A-61BA-4B97-8FA9-EAEC8B8F344E}" type="slidenum">
              <a:rPr lang="zh-CN" altLang="en-US" sz="1400" b="1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12</a:t>
            </a:fld>
            <a:endParaRPr lang="zh-CN" altLang="en-US" sz="1400" b="1" dirty="0" smtClean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0" name="标题 1"/>
              <p:cNvSpPr>
                <a:spLocks noGrp="1"/>
              </p:cNvSpPr>
              <p:nvPr>
                <p:ph type="title" idx="4294967295"/>
              </p:nvPr>
            </p:nvSpPr>
            <p:spPr>
              <a:xfrm>
                <a:off x="1475656" y="486055"/>
                <a:ext cx="5787429" cy="523220"/>
              </a:xfrm>
            </p:spPr>
            <p:txBody>
              <a:bodyPr>
                <a:noAutofit/>
              </a:bodyPr>
              <a:lstStyle/>
              <a:p>
                <a:pPr algn="l" eaLnBrk="1" hangingPunct="1"/>
                <a:r>
                  <a:rPr lang="zh-CN" altLang="en-US" sz="2800" dirty="0" smtClean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函数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)=(</m:t>
                        </m:r>
                        <m:sSup>
                          <m:s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zh-CN" altLang="en-US" sz="2800" dirty="0" smtClean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650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1475656" y="486055"/>
                <a:ext cx="5787429" cy="523220"/>
              </a:xfrm>
              <a:blipFill rotWithShape="1">
                <a:blip r:embed="rId2"/>
                <a:stretch>
                  <a:fillRect l="-10" t="-54" r="10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52" name="矩形 4"/>
          <p:cNvSpPr>
            <a:spLocks noChangeArrowheads="1"/>
          </p:cNvSpPr>
          <p:nvPr/>
        </p:nvSpPr>
        <p:spPr bwMode="auto">
          <a:xfrm>
            <a:off x="621275" y="2116418"/>
            <a:ext cx="4032250" cy="415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s-E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[x,y] = meshgrid( -2:2, -3:3 );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U = x.*x + y.*y  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U =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13    10     9    10    13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8      5      4     5      8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5      2      1     2      5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4      1      0     1      4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5      2      1     2      5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8      5      4     5      8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13    10     9    10    13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endParaRPr kumimoji="0" lang="zh-CN" altLang="en-US" sz="2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3" name="矩形 5"/>
          <p:cNvSpPr>
            <a:spLocks noChangeArrowheads="1"/>
          </p:cNvSpPr>
          <p:nvPr/>
        </p:nvSpPr>
        <p:spPr bwMode="auto">
          <a:xfrm>
            <a:off x="4632191" y="2509028"/>
            <a:ext cx="40322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V = 4*del2(U)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V =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4      4      4      4      4  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4      4      4      4      4 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4      4      4      4      4 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4      4      4      4      4    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4      4      4      4      4   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4      4      4      4      4 </a:t>
            </a:r>
          </a:p>
          <a:p>
            <a:pPr eaLnBrk="1" hangingPunct="1">
              <a:spcBef>
                <a:spcPct val="0"/>
              </a:spcBef>
            </a:pPr>
            <a:r>
              <a:rPr kumimoji="0" lang="es-ES" altLang="zh-CN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4      4      4      4      4 </a:t>
            </a:r>
            <a:endParaRPr kumimoji="0" lang="zh-CN" altLang="en-US" sz="2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页脚占位符 3"/>
          <p:cNvSpPr txBox="1"/>
          <p:nvPr/>
        </p:nvSpPr>
        <p:spPr>
          <a:xfrm>
            <a:off x="2843808" y="6390873"/>
            <a:ext cx="338437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§3.2.3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离散拉普拉斯算符（</a:t>
            </a: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del2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21275" y="486054"/>
            <a:ext cx="54373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21275" y="1474819"/>
            <a:ext cx="28777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4F271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用指令计算</a:t>
            </a:r>
            <a:r>
              <a:rPr lang="zh-CN" altLang="en-US" sz="2800" dirty="0" smtClean="0">
                <a:solidFill>
                  <a:srgbClr val="4F271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如下</a:t>
            </a:r>
            <a:r>
              <a:rPr lang="en-US" altLang="zh-CN" sz="2800" dirty="0" smtClean="0">
                <a:solidFill>
                  <a:srgbClr val="4F271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xfrm>
            <a:off x="699172" y="219111"/>
            <a:ext cx="7772400" cy="862013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zh-CN" sz="3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§3.2.4  </a:t>
            </a:r>
            <a:r>
              <a: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梯形积分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3600" dirty="0" err="1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trapz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36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539552" y="1772817"/>
            <a:ext cx="8208912" cy="720080"/>
          </a:xfrm>
        </p:spPr>
        <p:txBody>
          <a:bodyPr>
            <a:noAutofit/>
          </a:bodyPr>
          <a:lstStyle/>
          <a:p>
            <a:pPr eaLnBrk="1" hangingPunct="1">
              <a:lnSpc>
                <a:spcPts val="4000"/>
              </a:lnSpc>
              <a:buClr>
                <a:srgbClr val="1B00C0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solidFill>
                  <a:srgbClr val="1B00C0"/>
                </a:solidFill>
              </a:rPr>
              <a:t>指令</a:t>
            </a:r>
            <a:r>
              <a:rPr lang="en-US" altLang="zh-CN" sz="2800" dirty="0" err="1">
                <a:solidFill>
                  <a:srgbClr val="1B00C0"/>
                </a:solidFill>
              </a:rPr>
              <a:t>trapz</a:t>
            </a:r>
            <a:r>
              <a:rPr lang="zh-CN" altLang="en-US" sz="2800" dirty="0">
                <a:solidFill>
                  <a:srgbClr val="1B00C0"/>
                </a:solidFill>
              </a:rPr>
              <a:t>：</a:t>
            </a:r>
            <a:r>
              <a:rPr lang="zh-CN" altLang="en-US" sz="2800" dirty="0"/>
              <a:t>用梯形公式计算定积分</a:t>
            </a:r>
            <a:r>
              <a:rPr lang="zh-CN" altLang="en-US" sz="2800" dirty="0" smtClean="0"/>
              <a:t>。</a:t>
            </a:r>
            <a:endParaRPr lang="en-US" altLang="zh-CN" sz="2800" dirty="0"/>
          </a:p>
        </p:txBody>
      </p:sp>
      <p:sp>
        <p:nvSpPr>
          <p:cNvPr id="5" name="页脚占位符 3"/>
          <p:cNvSpPr txBox="1"/>
          <p:nvPr/>
        </p:nvSpPr>
        <p:spPr>
          <a:xfrm>
            <a:off x="2879812" y="6356175"/>
            <a:ext cx="338437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§3.2.4   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梯形积分（</a:t>
            </a:r>
            <a:r>
              <a:rPr lang="en-US" altLang="zh-CN" dirty="0" err="1" smtClean="0">
                <a:solidFill>
                  <a:schemeClr val="accent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trapz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899592" y="2506042"/>
                <a:ext cx="8136904" cy="35035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95275" lvl="0" indent="-295275" eaLnBrk="1" fontAlgn="auto" hangingPunct="1">
                  <a:lnSpc>
                    <a:spcPts val="4000"/>
                  </a:lnSpc>
                  <a:spcBef>
                    <a:spcPts val="645"/>
                  </a:spcBef>
                  <a:spcAft>
                    <a:spcPts val="0"/>
                  </a:spcAft>
                  <a:buClr>
                    <a:srgbClr val="1B00C0"/>
                  </a:buClr>
                  <a:buSzPct val="70000"/>
                  <a:buFont typeface="Wingdings" panose="05000000000000000000" pitchFamily="2" charset="2"/>
                  <a:buChar char="Ø"/>
                </a:pPr>
                <a:r>
                  <a:rPr lang="zh-CN" altLang="en-US" sz="280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对向量积分：</a:t>
                </a:r>
                <a:endParaRPr lang="en-US" altLang="zh-CN" sz="280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36550" lvl="1" eaLnBrk="1" fontAlgn="auto" hangingPunct="1">
                  <a:lnSpc>
                    <a:spcPts val="4000"/>
                  </a:lnSpc>
                  <a:spcBef>
                    <a:spcPts val="510"/>
                  </a:spcBef>
                  <a:spcAft>
                    <a:spcPts val="0"/>
                  </a:spcAft>
                  <a:buClr>
                    <a:srgbClr val="1B00C0"/>
                  </a:buClr>
                  <a:buSzPct val="70000"/>
                </a:pPr>
                <a:r>
                  <a:rPr lang="zh-CN" altLang="en-US" sz="280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函数值</a:t>
                </a:r>
                <a:r>
                  <a:rPr lang="en-US" altLang="zh-CN" sz="280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2800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向量元素，</a:t>
                </a:r>
                <a:endParaRPr lang="en-US" altLang="zh-CN" sz="28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36550" lvl="1" eaLnBrk="1" fontAlgn="auto" hangingPunct="1">
                  <a:lnSpc>
                    <a:spcPts val="4000"/>
                  </a:lnSpc>
                  <a:spcBef>
                    <a:spcPts val="510"/>
                  </a:spcBef>
                  <a:spcAft>
                    <a:spcPts val="0"/>
                  </a:spcAft>
                  <a:buClr>
                    <a:srgbClr val="1B00C0"/>
                  </a:buClr>
                  <a:buSzPct val="70000"/>
                </a:pPr>
                <a:r>
                  <a:rPr lang="zh-CN" altLang="en-US" sz="280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计算：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800" dirty="0">
                            <a:solidFill>
                              <a:prstClr val="black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rPr>
                          <m:t>相邻两个函数值之和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/>
                          </a:rPr>
                          <m:t>2</m:t>
                        </m:r>
                      </m:den>
                    </m:f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 panose="02040503050406030204"/>
                        <a:ea typeface="Cambria Math" panose="02040503050406030204"/>
                      </a:rPr>
                      <m:t>×</m:t>
                    </m:r>
                  </m:oMath>
                </a14:m>
                <a:r>
                  <a:rPr lang="zh-CN" altLang="en-US" sz="2800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自变量的增量</a:t>
                </a:r>
                <a:endParaRPr lang="en-US" altLang="zh-CN" sz="28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36550" lvl="1" eaLnBrk="1" fontAlgn="auto" hangingPunct="1">
                  <a:lnSpc>
                    <a:spcPts val="4000"/>
                  </a:lnSpc>
                  <a:spcBef>
                    <a:spcPts val="510"/>
                  </a:spcBef>
                  <a:spcAft>
                    <a:spcPts val="0"/>
                  </a:spcAft>
                  <a:buClr>
                    <a:srgbClr val="1B00C0"/>
                  </a:buClr>
                  <a:buSzPct val="70000"/>
                </a:pPr>
                <a:r>
                  <a:rPr lang="zh-CN" altLang="en-US" sz="2800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（元素编号就是自变量）</a:t>
                </a:r>
                <a:endParaRPr lang="en-US" altLang="zh-CN" sz="28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 indent="-457200" eaLnBrk="1" fontAlgn="auto" hangingPunct="1">
                  <a:lnSpc>
                    <a:spcPts val="4000"/>
                  </a:lnSpc>
                  <a:spcBef>
                    <a:spcPts val="645"/>
                  </a:spcBef>
                  <a:spcAft>
                    <a:spcPts val="0"/>
                  </a:spcAft>
                  <a:buClr>
                    <a:srgbClr val="1B00C0"/>
                  </a:buClr>
                  <a:buSzPct val="70000"/>
                  <a:buFont typeface="Wingdings" panose="05000000000000000000" pitchFamily="2" charset="2"/>
                  <a:buChar char="Ø"/>
                </a:pPr>
                <a:r>
                  <a:rPr lang="zh-CN" altLang="en-US" sz="2800" dirty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对矩阵积分：</a:t>
                </a:r>
                <a:endParaRPr lang="en-US" altLang="zh-CN" sz="280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36550" lvl="1" eaLnBrk="1" fontAlgn="auto" hangingPunct="1">
                  <a:lnSpc>
                    <a:spcPts val="4000"/>
                  </a:lnSpc>
                  <a:spcBef>
                    <a:spcPts val="510"/>
                  </a:spcBef>
                  <a:spcAft>
                    <a:spcPts val="0"/>
                  </a:spcAft>
                  <a:buClr>
                    <a:srgbClr val="1B00C0"/>
                  </a:buClr>
                  <a:buSzPct val="70000"/>
                </a:pPr>
                <a:r>
                  <a:rPr lang="zh-CN" altLang="en-US" sz="2925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默认</a:t>
                </a:r>
                <a:r>
                  <a:rPr lang="zh-CN" altLang="en-US" sz="2600" dirty="0">
                    <a:solidFill>
                      <a:prstClr val="black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对列矢量进行，也可以指定积分方向。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506042"/>
                <a:ext cx="8136904" cy="3503523"/>
              </a:xfrm>
              <a:prstGeom prst="rect">
                <a:avLst/>
              </a:prstGeom>
              <a:blipFill rotWithShape="1">
                <a:blip r:embed="rId2"/>
                <a:stretch>
                  <a:fillRect l="-5" t="-9" r="5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F99E95DF-8700-4900-89DC-A61B5AB8F7ED}" type="slidenum">
              <a:rPr lang="zh-CN" altLang="en-US" sz="1400" b="1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14</a:t>
            </a:fld>
            <a:endParaRPr lang="zh-CN" altLang="en-US" sz="1400" b="1" dirty="0" smtClean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4578" name="内容占位符 2"/>
          <p:cNvSpPr>
            <a:spLocks noGrp="1"/>
          </p:cNvSpPr>
          <p:nvPr>
            <p:ph idx="4294967295"/>
          </p:nvPr>
        </p:nvSpPr>
        <p:spPr>
          <a:xfrm>
            <a:off x="533400" y="785794"/>
            <a:ext cx="3824286" cy="4875169"/>
          </a:xfrm>
          <a:prstGeom prst="roundRect">
            <a:avLst/>
          </a:prstGeom>
          <a:ln w="28575">
            <a:solidFill>
              <a:srgbClr val="1B0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&gt;&gt;</a:t>
            </a: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a=[1, 5, 7, 2, 3];</a:t>
            </a:r>
          </a:p>
          <a:p>
            <a:pPr marL="0" indent="0" eaLnBrk="1" hangingPunct="1">
              <a:buNone/>
              <a:defRPr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&gt;&gt;</a:t>
            </a: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400" dirty="0" err="1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trapz</a:t>
            </a: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(a)</a:t>
            </a:r>
          </a:p>
          <a:p>
            <a:pPr marL="0" indent="0" eaLnBrk="1" hangingPunct="1">
              <a:buNone/>
              <a:defRPr/>
            </a:pP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ans =  16          </a:t>
            </a:r>
            <a:r>
              <a:rPr lang="zh-CN" altLang="en-US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　　</a:t>
            </a: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</a:t>
            </a: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</a:t>
            </a:r>
            <a:r>
              <a:rPr lang="zh-CN" altLang="en-US" sz="2400" dirty="0" smtClean="0">
                <a:solidFill>
                  <a:srgbClr val="1B00C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％向量的梯形积分</a:t>
            </a:r>
            <a:endParaRPr lang="en-US" altLang="zh-CN" sz="2400" dirty="0" smtClean="0">
              <a:solidFill>
                <a:srgbClr val="1B00C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lvl="0" indent="0" eaLnBrk="1" hangingPunct="1">
              <a:buNone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&gt;&gt; </a:t>
            </a:r>
            <a:r>
              <a:rPr lang="en-US" altLang="zh-CN" sz="2400" kern="12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 =</a:t>
            </a:r>
          </a:p>
          <a:p>
            <a:pPr marL="0" lvl="0" indent="0" eaLnBrk="1" hangingPunct="1">
              <a:buNone/>
            </a:pP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r>
              <a:rPr lang="en-US" altLang="zh-CN" sz="2400" kern="12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400" kern="1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0.95013 </a:t>
            </a:r>
            <a:r>
              <a:rPr lang="en-US" altLang="zh-CN" sz="2400" kern="12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0.48598    </a:t>
            </a:r>
            <a:endParaRPr lang="en-US" altLang="zh-CN" sz="2400" kern="1200" dirty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en-US" altLang="zh-CN" sz="2400" kern="1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400" kern="1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　</a:t>
            </a:r>
            <a:r>
              <a:rPr lang="en-US" altLang="zh-CN" sz="2400" kern="12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0.23114       0.8913</a:t>
            </a:r>
            <a:endParaRPr lang="en-US" altLang="zh-CN" sz="2400" kern="1200" dirty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lvl="0" indent="0" eaLnBrk="1" hangingPunct="1">
              <a:buNone/>
            </a:pPr>
            <a:r>
              <a:rPr lang="en-US" altLang="zh-CN" sz="2400" kern="1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</a:t>
            </a:r>
            <a:r>
              <a:rPr lang="en-US" altLang="zh-CN" sz="2400" kern="12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</a:t>
            </a:r>
            <a:r>
              <a:rPr lang="en-US" altLang="zh-CN" sz="2400" kern="1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0.60684       </a:t>
            </a:r>
            <a:r>
              <a:rPr lang="en-US" altLang="zh-CN" sz="2400" kern="12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0.7621</a:t>
            </a:r>
          </a:p>
          <a:p>
            <a:pPr marL="0" lvl="0" indent="0">
              <a:buNone/>
            </a:pPr>
            <a:r>
              <a:rPr lang="zh-CN" altLang="en-US" sz="2400" dirty="0" smtClean="0">
                <a:solidFill>
                  <a:srgbClr val="1B00C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</a:t>
            </a:r>
            <a:endParaRPr lang="en-US" altLang="zh-CN" sz="2400" kern="1200" dirty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860032" y="785794"/>
            <a:ext cx="3751200" cy="4866912"/>
          </a:xfrm>
          <a:prstGeom prst="roundRect">
            <a:avLst/>
          </a:prstGeom>
          <a:ln w="28575">
            <a:solidFill>
              <a:srgbClr val="1B0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eaLnBrk="1" hangingPunct="1">
              <a:spcBef>
                <a:spcPct val="20000"/>
              </a:spcBef>
            </a:pPr>
            <a:r>
              <a:rPr kumimoji="1"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&gt;&gt; 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trapz</a:t>
            </a:r>
            <a:r>
              <a:rPr kumimoji="1"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(b</a:t>
            </a:r>
            <a:r>
              <a:rPr kumimoji="1"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)</a:t>
            </a:r>
          </a:p>
          <a:p>
            <a:pPr marL="0" lvl="0" indent="0">
              <a:buNone/>
            </a:pPr>
            <a:r>
              <a:rPr lang="zh-CN" altLang="en-US" sz="2400" dirty="0" smtClean="0">
                <a:solidFill>
                  <a:srgbClr val="1B00C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％矩阵的积分默认   </a:t>
            </a:r>
            <a:endParaRPr lang="en-US" altLang="zh-CN" sz="2400" dirty="0" smtClean="0">
              <a:solidFill>
                <a:srgbClr val="1B00C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en-US" altLang="zh-CN" sz="2400" dirty="0" smtClean="0">
                <a:solidFill>
                  <a:srgbClr val="1B00C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%</a:t>
            </a:r>
            <a:r>
              <a:rPr lang="zh-CN" altLang="en-US" sz="2400" dirty="0" smtClean="0">
                <a:solidFill>
                  <a:srgbClr val="1B00C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为对列向量积分 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 err="1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ans</a:t>
            </a:r>
            <a:r>
              <a:rPr kumimoji="1"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= </a:t>
            </a:r>
            <a:r>
              <a:rPr kumimoji="1"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1.0096    1.5153</a:t>
            </a:r>
            <a:endParaRPr kumimoji="1" lang="en-US" altLang="zh-CN" sz="2400" dirty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endParaRPr kumimoji="1" lang="en-US" altLang="zh-CN" sz="2400" dirty="0" smtClean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&gt;&gt; </a:t>
            </a:r>
            <a:r>
              <a:rPr kumimoji="1" lang="en-US" altLang="zh-CN" sz="2400" dirty="0" err="1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trapz</a:t>
            </a:r>
            <a:r>
              <a:rPr kumimoji="1"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(b,2) </a:t>
            </a:r>
            <a:endParaRPr kumimoji="1" lang="en-US" altLang="zh-CN" sz="2400" dirty="0" smtClean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r>
              <a:rPr kumimoji="1" lang="zh-CN" altLang="en-US" sz="2400" dirty="0" smtClean="0">
                <a:solidFill>
                  <a:srgbClr val="1B00C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％</a:t>
            </a:r>
            <a:r>
              <a:rPr kumimoji="1" lang="zh-CN" altLang="en-US" sz="2400" dirty="0">
                <a:solidFill>
                  <a:srgbClr val="1B00C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指定对行向量积分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ans =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</a:t>
            </a:r>
            <a:r>
              <a:rPr kumimoji="1"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0.71806</a:t>
            </a:r>
            <a:endParaRPr kumimoji="1" lang="en-US" altLang="zh-CN" sz="2400" dirty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</a:t>
            </a:r>
            <a:r>
              <a:rPr kumimoji="1"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0.56122</a:t>
            </a:r>
            <a:endParaRPr kumimoji="1" lang="en-US" altLang="zh-CN" sz="2400" dirty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r>
              <a:rPr kumimoji="1"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</a:t>
            </a:r>
            <a:r>
              <a:rPr kumimoji="1"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0.68447</a:t>
            </a:r>
            <a:endParaRPr kumimoji="1" lang="zh-CN" altLang="en-US" sz="2400" dirty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页脚占位符 3"/>
          <p:cNvSpPr txBox="1"/>
          <p:nvPr/>
        </p:nvSpPr>
        <p:spPr>
          <a:xfrm>
            <a:off x="2843808" y="6390873"/>
            <a:ext cx="338437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chemeClr val="accent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§3.2.4  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梯形积分（</a:t>
            </a:r>
            <a:r>
              <a:rPr lang="en-US" altLang="zh-CN" dirty="0" err="1" smtClean="0">
                <a:solidFill>
                  <a:schemeClr val="accent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trapz</a:t>
            </a:r>
            <a:r>
              <a:rPr lang="zh-CN" altLang="en-US" dirty="0" smtClean="0">
                <a:solidFill>
                  <a:schemeClr val="accent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标题 1"/>
          <p:cNvSpPr>
            <a:spLocks noGrp="1"/>
          </p:cNvSpPr>
          <p:nvPr>
            <p:ph type="title"/>
          </p:nvPr>
        </p:nvSpPr>
        <p:spPr>
          <a:xfrm>
            <a:off x="457200" y="118715"/>
            <a:ext cx="7772400" cy="862013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zh-CN" sz="3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§3.2.5</a:t>
            </a:r>
            <a:r>
              <a:rPr lang="zh-CN" altLang="en-US" sz="3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累计梯形积分</a:t>
            </a:r>
            <a:r>
              <a:rPr lang="en-US" altLang="zh-CN" sz="3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36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cumtrapz</a:t>
            </a:r>
            <a:r>
              <a:rPr lang="en-US" altLang="zh-CN" sz="3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36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2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35787" y="1539918"/>
                <a:ext cx="8014973" cy="2378366"/>
              </a:xfrm>
              <a:ln w="28575">
                <a:solidFill>
                  <a:srgbClr val="00B050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Clr>
                    <a:srgbClr val="1B00C0"/>
                  </a:buClr>
                  <a:buSzPct val="100000"/>
                  <a:buNone/>
                </a:pPr>
                <a:endParaRPr lang="en-US" altLang="zh-CN" sz="2400" dirty="0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Clr>
                    <a:srgbClr val="1B00C0"/>
                  </a:buClr>
                  <a:buSzPct val="100000"/>
                  <a:buNone/>
                </a:pPr>
                <a:endParaRPr lang="en-US" altLang="zh-CN" sz="2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Clr>
                    <a:srgbClr val="1B00C0"/>
                  </a:buClr>
                  <a:buSzPct val="100000"/>
                  <a:buFont typeface="Wingdings" panose="05000000000000000000" pitchFamily="2" charset="2"/>
                  <a:buChar char="Ø"/>
                </a:pPr>
                <a:r>
                  <a:rPr lang="zh-CN" altLang="en-US" sz="2400" dirty="0" smtClean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累计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梯形积分相当于不定积分的数值计算。</a:t>
                </a:r>
                <a:endParaRPr lang="en-US" altLang="zh-CN" sz="2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Clr>
                    <a:srgbClr val="1B00C0"/>
                  </a:buClr>
                  <a:buSzPct val="100000"/>
                  <a:buFont typeface="Wingdings" panose="05000000000000000000" pitchFamily="2" charset="2"/>
                  <a:buChar char="Ø"/>
                </a:pPr>
                <a:r>
                  <a:rPr lang="zh-CN" altLang="en-US" sz="2400" dirty="0" smtClean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结果为矢量，第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个元素是原矢量前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个元素的梯形积分。</a:t>
                </a:r>
                <a:endParaRPr lang="en-US" altLang="zh-CN" sz="2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Clr>
                    <a:srgbClr val="1B00C0"/>
                  </a:buClr>
                  <a:buSzPct val="100000"/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矩阵</a:t>
                </a:r>
                <a:r>
                  <a:rPr lang="zh-CN" altLang="en-US" sz="2400" dirty="0" smtClean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是对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列矢量进行，也可以</a:t>
                </a:r>
                <a:r>
                  <a:rPr lang="zh-CN" altLang="en-US" sz="2400" dirty="0" smtClean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指定行向量积分。   </a:t>
                </a:r>
                <a:endParaRPr lang="en-US" altLang="zh-CN" sz="2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722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5787" y="1539918"/>
                <a:ext cx="8014973" cy="2378366"/>
              </a:xfrm>
              <a:blipFill rotWithShape="1">
                <a:blip r:embed="rId3"/>
                <a:stretch>
                  <a:fillRect l="-184" t="-616" r="-450" b="-600"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3587750" y="18256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2" name="Equation" r:id="rId4" imgW="114300" imgH="177800" progId="">
                  <p:embed/>
                </p:oleObj>
              </mc:Choice>
              <mc:Fallback>
                <p:oleObj name="Equation" r:id="rId4" imgW="114300" imgH="177800" progId="">
                  <p:embed/>
                  <p:pic>
                    <p:nvPicPr>
                      <p:cNvPr id="0" name="Picture 2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0" y="1825625"/>
                        <a:ext cx="114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页脚占位符 3"/>
          <p:cNvSpPr txBox="1"/>
          <p:nvPr/>
        </p:nvSpPr>
        <p:spPr>
          <a:xfrm>
            <a:off x="2771800" y="6387985"/>
            <a:ext cx="338437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§3.2.5  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累计梯形积分（</a:t>
            </a:r>
            <a:r>
              <a:rPr lang="en-US" altLang="zh-CN" dirty="0" err="1" smtClean="0">
                <a:solidFill>
                  <a:schemeClr val="bg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cumtrapz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7564" y="4138651"/>
            <a:ext cx="8028892" cy="2249334"/>
          </a:xfrm>
          <a:prstGeom prst="rect">
            <a:avLst/>
          </a:prstGeom>
          <a:ln w="28575">
            <a:solidFill>
              <a:srgbClr val="1B00C0"/>
            </a:solidFill>
          </a:ln>
        </p:spPr>
        <p:txBody>
          <a:bodyPr wrap="square">
            <a:spAutoFit/>
          </a:bodyPr>
          <a:lstStyle/>
          <a:p>
            <a:pPr lvl="0" eaLnBrk="1" fontAlgn="auto" hangingPunct="1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400" dirty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&gt;&gt;</a:t>
            </a: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400" dirty="0" err="1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cumtrapz</a:t>
            </a: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(b)</a:t>
            </a:r>
          </a:p>
          <a:p>
            <a:pPr lvl="0"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400" dirty="0" err="1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ans</a:t>
            </a: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=       0            0     </a:t>
            </a:r>
            <a:endParaRPr lang="zh-CN" altLang="en-US" sz="2400" dirty="0">
              <a:solidFill>
                <a:srgbClr val="00B050"/>
              </a:solidFill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lvl="0"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zh-CN" altLang="en-US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  </a:t>
            </a: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0.59063      0.68864</a:t>
            </a:r>
          </a:p>
          <a:p>
            <a:pPr lvl="0"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   1.0096       1.5153</a:t>
            </a:r>
          </a:p>
          <a:p>
            <a:pPr lvl="0"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                   </a:t>
            </a:r>
            <a:r>
              <a:rPr lang="en-US" altLang="zh-CN" sz="2400" dirty="0" smtClean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 </a:t>
            </a:r>
            <a:r>
              <a:rPr lang="zh-CN" altLang="en-US" sz="2400" dirty="0" smtClean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％</a:t>
            </a:r>
            <a:r>
              <a:rPr lang="zh-CN" altLang="en-US" sz="2400" dirty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这里的最后一行就是</a:t>
            </a:r>
            <a:r>
              <a:rPr lang="en-US" altLang="zh-CN" sz="2400" dirty="0" err="1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trapz</a:t>
            </a:r>
            <a:r>
              <a:rPr lang="en-US" altLang="zh-CN" sz="2400" dirty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(b)</a:t>
            </a:r>
            <a:r>
              <a:rPr lang="zh-CN" altLang="en-US" sz="2400" dirty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的结果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828211" y="1484784"/>
                <a:ext cx="4377737" cy="9382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eaLnBrk="1" fontAlgn="auto" hangingPunct="1">
                  <a:spcBef>
                    <a:spcPts val="645"/>
                  </a:spcBef>
                  <a:spcAft>
                    <a:spcPts val="0"/>
                  </a:spcAft>
                  <a:buClr>
                    <a:srgbClr val="FEB80A"/>
                  </a:buClr>
                  <a:buSzPct val="6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 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</m:t>
                      </m:r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solidFill>
                    <a:srgbClr val="4F271C"/>
                  </a:solidFill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211" y="1484784"/>
                <a:ext cx="4377737" cy="938206"/>
              </a:xfrm>
              <a:prstGeom prst="rect">
                <a:avLst/>
              </a:prstGeom>
              <a:blipFill rotWithShape="1">
                <a:blip r:embed="rId6"/>
                <a:stretch>
                  <a:fillRect l="-1" t="-16" r="2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487072" y="260648"/>
            <a:ext cx="7772400" cy="862013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zh-CN" sz="3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§3.2.6 </a:t>
            </a:r>
            <a:r>
              <a: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函数积分</a:t>
            </a:r>
            <a:r>
              <a:rPr lang="en-US" altLang="zh-CN" sz="3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3600" dirty="0" err="1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quad</a:t>
            </a:r>
            <a:r>
              <a:rPr lang="en-US" altLang="zh-CN" sz="3600" dirty="0" err="1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</a:t>
            </a:r>
            <a:r>
              <a:rPr lang="en-US" altLang="zh-CN" sz="3600" dirty="0" err="1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quadl</a:t>
            </a:r>
            <a:r>
              <a:rPr lang="en-US" altLang="zh-CN" sz="3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36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7" name="组合 1"/>
          <p:cNvGrpSpPr/>
          <p:nvPr/>
        </p:nvGrpSpPr>
        <p:grpSpPr>
          <a:xfrm>
            <a:off x="931995" y="1415658"/>
            <a:ext cx="7063986" cy="1134143"/>
            <a:chOff x="2100803" y="1388710"/>
            <a:chExt cx="7007046" cy="1134143"/>
          </a:xfrm>
        </p:grpSpPr>
        <p:sp>
          <p:nvSpPr>
            <p:cNvPr id="5" name="矩形 7"/>
            <p:cNvSpPr/>
            <p:nvPr/>
          </p:nvSpPr>
          <p:spPr>
            <a:xfrm>
              <a:off x="2100803" y="1388710"/>
              <a:ext cx="454000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指令</a:t>
              </a:r>
              <a:r>
                <a:rPr lang="en-US" altLang="zh-CN" sz="2800" dirty="0">
                  <a:solidFill>
                    <a:srgbClr val="1B00C0"/>
                  </a:solidFill>
                  <a:ea typeface="楷体" panose="02010609060101010101" pitchFamily="49" charset="-122"/>
                  <a:cs typeface="Arial" panose="020B0604020202020204" pitchFamily="34" charset="0"/>
                </a:rPr>
                <a:t>quad</a:t>
              </a:r>
              <a:r>
                <a:rPr lang="zh-CN" altLang="en-US" sz="280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：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自适应辛普生法</a:t>
              </a:r>
            </a:p>
          </p:txBody>
        </p:sp>
        <p:sp>
          <p:nvSpPr>
            <p:cNvPr id="6" name="矩形 24"/>
            <p:cNvSpPr/>
            <p:nvPr/>
          </p:nvSpPr>
          <p:spPr>
            <a:xfrm>
              <a:off x="2100803" y="1999633"/>
              <a:ext cx="700704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指令</a:t>
              </a:r>
              <a:r>
                <a:rPr lang="en-US" altLang="zh-CN" sz="2800" dirty="0">
                  <a:solidFill>
                    <a:srgbClr val="1B00C0"/>
                  </a:solidFill>
                  <a:ea typeface="楷体" panose="02010609060101010101" pitchFamily="49" charset="-122"/>
                  <a:cs typeface="Arial" panose="020B0604020202020204" pitchFamily="34" charset="0"/>
                </a:rPr>
                <a:t>quadl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：用</a:t>
              </a:r>
              <a:r>
                <a:rPr lang="zh-CN" altLang="en-US" sz="280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精度更高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的自适应</a:t>
              </a:r>
              <a:r>
                <a:rPr lang="en-US" altLang="zh-CN" sz="2800" dirty="0">
                  <a:ea typeface="楷体" panose="02010609060101010101" pitchFamily="49" charset="-122"/>
                  <a:cs typeface="Arial" panose="020B0604020202020204" pitchFamily="34" charset="0"/>
                </a:rPr>
                <a:t>Lobatto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法</a:t>
              </a:r>
            </a:p>
          </p:txBody>
        </p:sp>
      </p:grpSp>
      <p:grpSp>
        <p:nvGrpSpPr>
          <p:cNvPr id="10" name="组合 31753"/>
          <p:cNvGrpSpPr/>
          <p:nvPr/>
        </p:nvGrpSpPr>
        <p:grpSpPr>
          <a:xfrm>
            <a:off x="1054100" y="2786102"/>
            <a:ext cx="2750098" cy="3383518"/>
            <a:chOff x="952500" y="1373188"/>
            <a:chExt cx="3135313" cy="5014482"/>
          </a:xfrm>
        </p:grpSpPr>
        <p:sp>
          <p:nvSpPr>
            <p:cNvPr id="11" name="AutoShape 5"/>
            <p:cNvSpPr>
              <a:spLocks noChangeArrowheads="1"/>
            </p:cNvSpPr>
            <p:nvPr/>
          </p:nvSpPr>
          <p:spPr bwMode="gray">
            <a:xfrm>
              <a:off x="952500" y="1771651"/>
              <a:ext cx="3135313" cy="4616019"/>
            </a:xfrm>
            <a:prstGeom prst="roundRect">
              <a:avLst>
                <a:gd name="adj" fmla="val 6903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indent="0" defTabSz="3053080" eaLnBrk="1" hangingPunct="1">
                <a:buNone/>
              </a:pPr>
              <a:r>
                <a:rPr lang="zh-CN" altLang="en-US" sz="2800" dirty="0" smtClean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根据积分精度自动调节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积分取</a:t>
              </a:r>
              <a:r>
                <a:rPr lang="zh-CN" altLang="en-US" sz="2800" dirty="0" smtClean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点数目</a:t>
              </a:r>
              <a:r>
                <a:rPr lang="zh-CN" altLang="en-US" sz="2800" dirty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。</a:t>
              </a:r>
              <a:endPara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endParaRPr>
            </a:p>
            <a:p>
              <a:endParaRPr lang="zh-CN" altLang="en-US" dirty="0">
                <a:ea typeface="宋体" panose="02010600030101010101" pitchFamily="2" charset="-122"/>
              </a:endParaRPr>
            </a:p>
          </p:txBody>
        </p:sp>
        <p:grpSp>
          <p:nvGrpSpPr>
            <p:cNvPr id="12" name="Group 18"/>
            <p:cNvGrpSpPr/>
            <p:nvPr/>
          </p:nvGrpSpPr>
          <p:grpSpPr bwMode="auto">
            <a:xfrm>
              <a:off x="952500" y="1373188"/>
              <a:ext cx="3135313" cy="812799"/>
              <a:chOff x="600" y="865"/>
              <a:chExt cx="1975" cy="512"/>
            </a:xfrm>
          </p:grpSpPr>
          <p:sp>
            <p:nvSpPr>
              <p:cNvPr id="14" name="AutoShape 7"/>
              <p:cNvSpPr>
                <a:spLocks noChangeArrowheads="1"/>
              </p:cNvSpPr>
              <p:nvPr/>
            </p:nvSpPr>
            <p:spPr bwMode="gray">
              <a:xfrm>
                <a:off x="600" y="937"/>
                <a:ext cx="1975" cy="37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5" name="AutoShape 8"/>
              <p:cNvSpPr>
                <a:spLocks noChangeArrowheads="1"/>
              </p:cNvSpPr>
              <p:nvPr/>
            </p:nvSpPr>
            <p:spPr bwMode="gray">
              <a:xfrm>
                <a:off x="600" y="865"/>
                <a:ext cx="1966" cy="51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6" name="Oval 9"/>
              <p:cNvSpPr>
                <a:spLocks noChangeArrowheads="1"/>
              </p:cNvSpPr>
              <p:nvPr/>
            </p:nvSpPr>
            <p:spPr bwMode="gray">
              <a:xfrm rot="-2566439">
                <a:off x="616" y="981"/>
                <a:ext cx="143" cy="89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" name="Rectangle 10"/>
            <p:cNvSpPr>
              <a:spLocks noChangeArrowheads="1"/>
            </p:cNvSpPr>
            <p:nvPr/>
          </p:nvSpPr>
          <p:spPr bwMode="gray">
            <a:xfrm>
              <a:off x="1397000" y="1568450"/>
              <a:ext cx="2294534" cy="5175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zh-CN" altLang="en-US" sz="28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自适应积分</a:t>
              </a:r>
              <a:endParaRPr lang="en-US" altLang="ko-KR" sz="2400" b="1" dirty="0">
                <a:solidFill>
                  <a:schemeClr val="bg1"/>
                </a:solidFill>
                <a:latin typeface="Verdana" panose="020B0604030504040204" pitchFamily="34" charset="0"/>
                <a:ea typeface="Gulim" panose="020B0600000101010101" pitchFamily="34" charset="-127"/>
              </a:endParaRPr>
            </a:p>
          </p:txBody>
        </p:sp>
      </p:grpSp>
      <p:grpSp>
        <p:nvGrpSpPr>
          <p:cNvPr id="17" name="组合 31767"/>
          <p:cNvGrpSpPr/>
          <p:nvPr/>
        </p:nvGrpSpPr>
        <p:grpSpPr>
          <a:xfrm>
            <a:off x="5283851" y="2786101"/>
            <a:ext cx="3240360" cy="3383518"/>
            <a:chOff x="4506449" y="1260475"/>
            <a:chExt cx="3609975" cy="4743473"/>
          </a:xfrm>
        </p:grpSpPr>
        <p:sp>
          <p:nvSpPr>
            <p:cNvPr id="18" name="AutoShape 11"/>
            <p:cNvSpPr>
              <a:spLocks noChangeArrowheads="1"/>
            </p:cNvSpPr>
            <p:nvPr/>
          </p:nvSpPr>
          <p:spPr bwMode="gray">
            <a:xfrm>
              <a:off x="4506449" y="1829648"/>
              <a:ext cx="3609975" cy="4174300"/>
            </a:xfrm>
            <a:prstGeom prst="roundRect">
              <a:avLst>
                <a:gd name="adj" fmla="val 6903"/>
              </a:avLst>
            </a:prstGeom>
            <a:solidFill>
              <a:schemeClr val="bg1"/>
            </a:solidFill>
            <a:ln w="38100">
              <a:solidFill>
                <a:schemeClr val="hlink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endParaRPr>
            </a:p>
            <a:p>
              <a:endPara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endParaRPr>
            </a:p>
            <a:p>
              <a:pPr marL="342900" indent="-342900">
                <a:buClr>
                  <a:srgbClr val="1B00C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 smtClean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自动适应被积函数</a:t>
              </a:r>
              <a:endPara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endParaRPr>
            </a:p>
            <a:p>
              <a:pPr marL="342900" indent="-342900">
                <a:buClr>
                  <a:srgbClr val="1B00C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 smtClean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被积函数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变化</a:t>
              </a:r>
              <a:r>
                <a:rPr lang="zh-CN" altLang="en-US" sz="2400" dirty="0" smtClean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剧烈   积分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子</a:t>
              </a:r>
              <a:r>
                <a:rPr lang="zh-CN" altLang="en-US" sz="2400" dirty="0" smtClean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区间较小</a:t>
              </a:r>
              <a:endPara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endParaRPr>
            </a:p>
            <a:p>
              <a:pPr marL="342900" indent="-342900">
                <a:buClr>
                  <a:srgbClr val="1B00C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 smtClean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被积函数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变化</a:t>
              </a:r>
              <a:r>
                <a:rPr lang="zh-CN" altLang="en-US" sz="2400" dirty="0" smtClean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缓慢积分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子</a:t>
              </a:r>
              <a:r>
                <a:rPr lang="zh-CN" altLang="en-US" sz="2400" dirty="0" smtClean="0"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区间较大</a:t>
              </a:r>
              <a:endPara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endParaRPr>
            </a:p>
            <a:p>
              <a:endParaRPr lang="zh-CN" altLang="en-US" dirty="0">
                <a:ea typeface="宋体" panose="02010600030101010101" pitchFamily="2" charset="-122"/>
              </a:endParaRPr>
            </a:p>
          </p:txBody>
        </p:sp>
        <p:grpSp>
          <p:nvGrpSpPr>
            <p:cNvPr id="19" name="Group 19"/>
            <p:cNvGrpSpPr/>
            <p:nvPr/>
          </p:nvGrpSpPr>
          <p:grpSpPr bwMode="auto">
            <a:xfrm>
              <a:off x="4843463" y="1260475"/>
              <a:ext cx="3149600" cy="884238"/>
              <a:chOff x="3051" y="794"/>
              <a:chExt cx="1984" cy="557"/>
            </a:xfrm>
          </p:grpSpPr>
          <p:sp>
            <p:nvSpPr>
              <p:cNvPr id="21" name="AutoShape 13"/>
              <p:cNvSpPr>
                <a:spLocks noChangeArrowheads="1"/>
              </p:cNvSpPr>
              <p:nvPr/>
            </p:nvSpPr>
            <p:spPr bwMode="gray">
              <a:xfrm>
                <a:off x="3060" y="946"/>
                <a:ext cx="1975" cy="37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" name="AutoShape 14"/>
              <p:cNvSpPr>
                <a:spLocks noChangeArrowheads="1"/>
              </p:cNvSpPr>
              <p:nvPr/>
            </p:nvSpPr>
            <p:spPr bwMode="gray">
              <a:xfrm>
                <a:off x="3051" y="794"/>
                <a:ext cx="1976" cy="55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3" name="Oval 15"/>
              <p:cNvSpPr>
                <a:spLocks noChangeArrowheads="1"/>
              </p:cNvSpPr>
              <p:nvPr/>
            </p:nvSpPr>
            <p:spPr bwMode="gray">
              <a:xfrm rot="-2566439">
                <a:off x="3111" y="978"/>
                <a:ext cx="143" cy="89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" name="Rectangle 16"/>
            <p:cNvSpPr>
              <a:spLocks noChangeArrowheads="1"/>
            </p:cNvSpPr>
            <p:nvPr/>
          </p:nvSpPr>
          <p:spPr bwMode="gray">
            <a:xfrm>
              <a:off x="5357813" y="1563688"/>
              <a:ext cx="2209800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zh-CN" altLang="en-US" sz="28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Arial" panose="020B0604020202020204" pitchFamily="34" charset="0"/>
                </a:rPr>
                <a:t>优点</a:t>
              </a:r>
              <a:endParaRPr lang="en-US" altLang="ko-KR" sz="2400" b="1" dirty="0">
                <a:solidFill>
                  <a:schemeClr val="bg1"/>
                </a:solidFill>
                <a:latin typeface="Verdana" panose="020B0604030504040204" pitchFamily="34" charset="0"/>
                <a:ea typeface="Gulim" panose="020B0600000101010101" pitchFamily="34" charset="-127"/>
              </a:endParaRPr>
            </a:p>
          </p:txBody>
        </p:sp>
      </p:grpSp>
      <p:sp>
        <p:nvSpPr>
          <p:cNvPr id="24" name="页脚占位符 3"/>
          <p:cNvSpPr txBox="1"/>
          <p:nvPr/>
        </p:nvSpPr>
        <p:spPr>
          <a:xfrm>
            <a:off x="2879812" y="6403491"/>
            <a:ext cx="338437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§3.2.6  </a:t>
            </a:r>
            <a:r>
              <a:rPr lang="zh-CN" altLang="en-US" dirty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积分（</a:t>
            </a:r>
            <a:r>
              <a:rPr lang="en-US" altLang="zh-CN" dirty="0" err="1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quad</a:t>
            </a:r>
            <a:r>
              <a:rPr lang="en-US" altLang="zh-CN" dirty="0" err="1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en-US" altLang="zh-CN" dirty="0" err="1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quadl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下箭头 24"/>
          <p:cNvSpPr/>
          <p:nvPr/>
        </p:nvSpPr>
        <p:spPr>
          <a:xfrm rot="16200000">
            <a:off x="4205261" y="4194854"/>
            <a:ext cx="686420" cy="972000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  <a:tileRect/>
          </a:gradFill>
        </p:spPr>
        <p:txBody>
          <a:bodyPr rtlCol="0" anchor="ctr">
            <a:spAutoFit/>
          </a:bodyPr>
          <a:lstStyle/>
          <a:p>
            <a:pPr algn="ctr"/>
            <a:endParaRPr lang="zh-CN" altLang="en-US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CA50E147-BA8A-47C4-B752-280EA9ECA6E0}" type="slidenum">
              <a:rPr lang="zh-CN" altLang="en-US" sz="1400" b="1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17</a:t>
            </a:fld>
            <a:endParaRPr lang="zh-CN" altLang="en-US" sz="1400" b="1" smtClean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>
          <a:xfrm>
            <a:off x="467544" y="404664"/>
            <a:ext cx="1296144" cy="432008"/>
          </a:xfrm>
          <a:solidFill>
            <a:srgbClr val="E8F2D3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eaLnBrk="0" fontAlgn="base" hangingPunct="0">
              <a:spcAft>
                <a:spcPct val="0"/>
              </a:spcAft>
            </a:pPr>
            <a:r>
              <a:rPr kumimoji="1" lang="zh-CN" altLang="en-US" sz="2800" b="1" kern="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endParaRPr kumimoji="1" lang="zh-CN" altLang="en-US" sz="28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2770" name="内容占位符 2"/>
          <p:cNvSpPr>
            <a:spLocks noGrp="1"/>
          </p:cNvSpPr>
          <p:nvPr>
            <p:ph idx="4294967295"/>
          </p:nvPr>
        </p:nvSpPr>
        <p:spPr>
          <a:xfrm>
            <a:off x="349188" y="1053985"/>
            <a:ext cx="8229600" cy="5334000"/>
          </a:xfrm>
          <a:ln w="28575">
            <a:solidFill>
              <a:srgbClr val="1B00C0"/>
            </a:solidFill>
          </a:ln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zh-CN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&gt;&gt;</a:t>
            </a: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f=inline(‘exp(x.^(-3))’,‘x’)                           </a:t>
            </a:r>
            <a:r>
              <a:rPr lang="zh-CN" altLang="en-US" sz="24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％建立积分函数</a:t>
            </a:r>
          </a:p>
          <a:p>
            <a:pPr marL="0" indent="0" eaLnBrk="1" hangingPunct="1">
              <a:buNone/>
            </a:pP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= Inline function:</a:t>
            </a:r>
          </a:p>
          <a:p>
            <a:pPr marL="0" indent="0" eaLnBrk="1" hangingPunct="1">
              <a:buNone/>
            </a:pP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f(x) = exp(x.^(-3))</a:t>
            </a:r>
          </a:p>
          <a:p>
            <a:pPr marL="0" indent="0">
              <a:buNone/>
            </a:pPr>
            <a:r>
              <a:rPr lang="en-US" altLang="zh-CN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&gt;&gt;</a:t>
            </a: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 long           </a:t>
            </a:r>
            <a:r>
              <a:rPr lang="zh-CN" altLang="en-US" sz="24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％在屏幕上显示更多位数字来对比结果</a:t>
            </a:r>
          </a:p>
          <a:p>
            <a:pPr marL="0" indent="0" eaLnBrk="1" hangingPunct="1">
              <a:buNone/>
            </a:pPr>
            <a:r>
              <a:rPr lang="en-US" altLang="zh-CN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&gt;&gt;</a:t>
            </a: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quad(f,0.5,0.6)</a:t>
            </a:r>
          </a:p>
          <a:p>
            <a:pPr marL="0" indent="0" eaLnBrk="1" hangingPunct="1">
              <a:buNone/>
            </a:pP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 =  71.54649248133561       </a:t>
            </a:r>
            <a:r>
              <a:rPr lang="zh-CN" altLang="en-US" sz="24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％两个结果对比，精度不同</a:t>
            </a:r>
          </a:p>
          <a:p>
            <a:pPr marL="0" indent="0" eaLnBrk="1" hangingPunct="1">
              <a:buNone/>
            </a:pPr>
            <a:r>
              <a:rPr lang="en-US" altLang="zh-CN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&gt;&gt;</a:t>
            </a: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quadl(f,0.5,0.6)</a:t>
            </a:r>
          </a:p>
          <a:p>
            <a:pPr marL="0" indent="0" eaLnBrk="1" hangingPunct="1">
              <a:buNone/>
            </a:pP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 =  71.54649247308223</a:t>
            </a:r>
          </a:p>
          <a:p>
            <a:pPr marL="0" indent="0" eaLnBrk="1" hangingPunct="1">
              <a:buNone/>
            </a:pPr>
            <a:endParaRPr lang="en-US" altLang="zh-CN" sz="24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None/>
            </a:pPr>
            <a:r>
              <a:rPr lang="en-US" altLang="zh-CN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&gt;&gt;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f=@ (x)exp(x.^(-3)) </a:t>
            </a: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  <a:r>
              <a:rPr lang="zh-CN" altLang="en-US" sz="24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％用</a:t>
            </a:r>
            <a:r>
              <a:rPr lang="en-US" altLang="zh-CN" sz="24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zh-CN" altLang="en-US" sz="2400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定义匿名函数积分</a:t>
            </a:r>
            <a:endParaRPr lang="en-US" altLang="zh-CN" sz="2400" dirty="0" smtClean="0">
              <a:solidFill>
                <a:srgbClr val="1B0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None/>
            </a:pPr>
            <a:r>
              <a:rPr lang="en-US" altLang="zh-CN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&gt;&gt;</a:t>
            </a:r>
            <a:r>
              <a:rPr lang="en-US" altLang="zh-CN" sz="24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quad(f,0.5,0.6)</a:t>
            </a:r>
          </a:p>
        </p:txBody>
      </p:sp>
      <p:sp>
        <p:nvSpPr>
          <p:cNvPr id="6" name="页脚占位符 3"/>
          <p:cNvSpPr txBox="1"/>
          <p:nvPr/>
        </p:nvSpPr>
        <p:spPr>
          <a:xfrm>
            <a:off x="2879812" y="6387985"/>
            <a:ext cx="338437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§3.2.6  </a:t>
            </a:r>
            <a:r>
              <a:rPr lang="zh-CN" altLang="en-US" dirty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积分（</a:t>
            </a:r>
            <a:r>
              <a:rPr lang="en-US" altLang="zh-CN" dirty="0" err="1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quad,quadl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CD515774-3178-442F-B7F0-D83FE8BA2FCA}" type="slidenum">
              <a:rPr lang="zh-CN" altLang="en-US" sz="1400" b="1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18</a:t>
            </a:fld>
            <a:endParaRPr lang="zh-CN" altLang="en-US" sz="1400" b="1" smtClean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3794" name="内容占位符 2"/>
          <p:cNvSpPr>
            <a:spLocks noGrp="1"/>
          </p:cNvSpPr>
          <p:nvPr>
            <p:ph idx="4294967295"/>
          </p:nvPr>
        </p:nvSpPr>
        <p:spPr>
          <a:xfrm>
            <a:off x="691871" y="455095"/>
            <a:ext cx="7912577" cy="453625"/>
          </a:xfrm>
        </p:spPr>
        <p:txBody>
          <a:bodyPr>
            <a:noAutofit/>
          </a:bodyPr>
          <a:lstStyle/>
          <a:p>
            <a:pPr marL="337820" lvl="1" indent="0">
              <a:buSzPct val="100000"/>
              <a:buNone/>
            </a:pPr>
            <a:r>
              <a:rPr lang="zh-CN" altLang="en-US" sz="28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有时候使用函数文件更好</a:t>
            </a:r>
            <a:endParaRPr lang="en-US" altLang="zh-CN" sz="28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82344" y="2060847"/>
            <a:ext cx="3222104" cy="3139321"/>
          </a:xfrm>
          <a:prstGeom prst="rect">
            <a:avLst/>
          </a:prstGeom>
          <a:ln>
            <a:solidFill>
              <a:srgbClr val="1B0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anchor="ctr">
            <a:noAutofit/>
          </a:bodyPr>
          <a:lstStyle/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zh-CN" altLang="en-US" sz="2400" dirty="0" smtClean="0">
                <a:solidFill>
                  <a:srgbClr val="1B00C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积分</a:t>
            </a:r>
            <a:endParaRPr lang="zh-CN" altLang="en-US" sz="2400" dirty="0">
              <a:solidFill>
                <a:srgbClr val="1B00C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&gt;&gt; quad(@sinc,0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240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pi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ans=1.8519</a:t>
            </a:r>
          </a:p>
        </p:txBody>
      </p:sp>
      <p:sp>
        <p:nvSpPr>
          <p:cNvPr id="6" name="矩形 5"/>
          <p:cNvSpPr/>
          <p:nvPr/>
        </p:nvSpPr>
        <p:spPr>
          <a:xfrm>
            <a:off x="827584" y="2049559"/>
            <a:ext cx="3006000" cy="3139321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zh-CN" altLang="en-US" sz="2400" dirty="0" smtClean="0">
                <a:solidFill>
                  <a:srgbClr val="1B00C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函数</a:t>
            </a:r>
            <a:r>
              <a:rPr lang="zh-CN" altLang="en-US" sz="2400" dirty="0">
                <a:solidFill>
                  <a:srgbClr val="1B00C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文件：</a:t>
            </a:r>
          </a:p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function  f=</a:t>
            </a:r>
            <a:r>
              <a:rPr lang="en-US" altLang="zh-CN" sz="2400" dirty="0" err="1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sinc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(x)</a:t>
            </a:r>
          </a:p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if x==0</a:t>
            </a:r>
          </a:p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f=1,</a:t>
            </a:r>
          </a:p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else</a:t>
            </a:r>
          </a:p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f=sin(x)./x</a:t>
            </a:r>
          </a:p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end  </a:t>
            </a:r>
          </a:p>
        </p:txBody>
      </p:sp>
      <p:sp>
        <p:nvSpPr>
          <p:cNvPr id="7" name="矩形 6"/>
          <p:cNvSpPr/>
          <p:nvPr/>
        </p:nvSpPr>
        <p:spPr>
          <a:xfrm>
            <a:off x="827585" y="5403066"/>
            <a:ext cx="73495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结果</a:t>
            </a:r>
            <a:r>
              <a:rPr lang="zh-CN" altLang="en-US" sz="2400" b="1" dirty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与后面用符号工具箱所得的结果一样</a:t>
            </a:r>
            <a:r>
              <a:rPr lang="zh-CN" altLang="en-US" sz="2400" b="1" dirty="0" smtClean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b="1" dirty="0" smtClean="0">
              <a:solidFill>
                <a:srgbClr val="1B0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</a:t>
            </a:r>
            <a:r>
              <a:rPr lang="zh-CN" altLang="en-US" sz="2400" b="1" dirty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函数文件中变量的运算必需要用数组运算符号。</a:t>
            </a:r>
          </a:p>
        </p:txBody>
      </p:sp>
      <p:sp>
        <p:nvSpPr>
          <p:cNvPr id="9" name="页脚占位符 3"/>
          <p:cNvSpPr txBox="1"/>
          <p:nvPr/>
        </p:nvSpPr>
        <p:spPr>
          <a:xfrm>
            <a:off x="2771800" y="6387985"/>
            <a:ext cx="338437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§3.2.6  </a:t>
            </a:r>
            <a:r>
              <a:rPr lang="zh-CN" altLang="en-US" dirty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积分（</a:t>
            </a:r>
            <a:r>
              <a:rPr lang="en-US" altLang="zh-CN" dirty="0" err="1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quad</a:t>
            </a:r>
            <a:r>
              <a:rPr lang="en-US" altLang="zh-CN" dirty="0" err="1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en-US" altLang="zh-CN" dirty="0" err="1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quadl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619671" y="985464"/>
                <a:ext cx="2118593" cy="8903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eaLnBrk="1" fontAlgn="auto" hangingPunct="1">
                  <a:spcBef>
                    <a:spcPts val="645"/>
                  </a:spcBef>
                  <a:spcAft>
                    <a:spcPts val="0"/>
                  </a:spcAft>
                  <a:buClr>
                    <a:srgbClr val="FEB80A"/>
                  </a:buClr>
                  <a:buSzPct val="60000"/>
                </a:pPr>
                <a:r>
                  <a:rPr lang="zh-CN" altLang="en-US" sz="2400" dirty="0">
                    <a:solidFill>
                      <a:srgbClr val="4F271C"/>
                    </a:solidFill>
                    <a:ea typeface="楷体" panose="02010609060101010101" pitchFamily="49" charset="-122"/>
                    <a:cs typeface="Arial" panose="020B0604020202020204" pitchFamily="34" charset="0"/>
                  </a:rPr>
                  <a:t>计算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grow m:val="on"/>
                        <m:ctrlPr>
                          <a:rPr lang="zh-CN" altLang="en-US" sz="2400" i="1">
                            <a:solidFill>
                              <a:srgbClr val="4F271C"/>
                            </a:solidFill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zh-CN" altLang="en-US" sz="2400">
                            <a:solidFill>
                              <a:srgbClr val="4F271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4F271C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ctrlPr>
                              <a:rPr lang="zh-CN" altLang="en-US" sz="2400" i="1">
                                <a:solidFill>
                                  <a:srgbClr val="4F271C"/>
                                </a:solidFill>
                                <a:latin typeface="Cambria Math" panose="02040503050406030204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srgbClr val="4F271C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zh-CN" altLang="en-US" sz="2400" i="1">
                                <a:solidFill>
                                  <a:srgbClr val="4F271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zh-CN" altLang="en-US" sz="2400" i="1">
                                <a:solidFill>
                                  <a:srgbClr val="4F271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4F271C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4F271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altLang="zh-CN" sz="2400" dirty="0">
                  <a:solidFill>
                    <a:srgbClr val="4F271C"/>
                  </a:solidFill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1" y="985464"/>
                <a:ext cx="2118593" cy="890372"/>
              </a:xfrm>
              <a:prstGeom prst="rect">
                <a:avLst/>
              </a:prstGeom>
              <a:blipFill rotWithShape="1">
                <a:blip r:embed="rId2"/>
                <a:stretch>
                  <a:fillRect l="-20" t="-65" r="1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043607" y="1117511"/>
            <a:ext cx="57606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4237983" y="3273900"/>
            <a:ext cx="864095" cy="69063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0" indent="0" algn="ctr" eaLnBrk="1" hangingPunct="1">
              <a:buNone/>
            </a:pPr>
            <a:endParaRPr lang="zh-CN" altLang="en-US" sz="2400" dirty="0" smtClean="0">
              <a:solidFill>
                <a:srgbClr val="00B05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CD515774-3178-442F-B7F0-D83FE8BA2FCA}" type="slidenum">
              <a:rPr lang="zh-CN" altLang="en-US" sz="1400" b="1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19</a:t>
            </a:fld>
            <a:endParaRPr lang="zh-CN" altLang="en-US" sz="1400" b="1" smtClean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3794" name="内容占位符 2"/>
          <p:cNvSpPr>
            <a:spLocks noGrp="1"/>
          </p:cNvSpPr>
          <p:nvPr>
            <p:ph idx="4294967295"/>
          </p:nvPr>
        </p:nvSpPr>
        <p:spPr>
          <a:xfrm>
            <a:off x="691871" y="455096"/>
            <a:ext cx="7912577" cy="611028"/>
          </a:xfrm>
        </p:spPr>
        <p:txBody>
          <a:bodyPr>
            <a:noAutofit/>
          </a:bodyPr>
          <a:lstStyle/>
          <a:p>
            <a:pPr marL="337820" lvl="1" indent="0">
              <a:lnSpc>
                <a:spcPts val="3600"/>
              </a:lnSpc>
              <a:buSzPct val="100000"/>
              <a:buNone/>
            </a:pP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对含有参数的积分也应该用函数</a:t>
            </a:r>
            <a:r>
              <a:rPr lang="zh-CN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文件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16016" y="2047722"/>
            <a:ext cx="3888432" cy="2893448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zh-CN" altLang="en-US" sz="26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积分</a:t>
            </a:r>
            <a:endParaRPr lang="zh-CN" altLang="en-US" sz="2600" dirty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ts val="3600"/>
              </a:lnSpc>
            </a:pPr>
            <a:endParaRPr lang="en-US" altLang="zh-CN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3600"/>
              </a:lnSpc>
            </a:pPr>
            <a:r>
              <a:rPr lang="en-US" altLang="zh-CN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z=8/3, w=10/3, tol=1e-6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quad(@betaf,0,1,tol,z,w)</a:t>
            </a:r>
          </a:p>
        </p:txBody>
      </p:sp>
      <p:sp>
        <p:nvSpPr>
          <p:cNvPr id="6" name="矩形 5"/>
          <p:cNvSpPr/>
          <p:nvPr/>
        </p:nvSpPr>
        <p:spPr>
          <a:xfrm>
            <a:off x="611561" y="2047723"/>
            <a:ext cx="3240360" cy="2893446"/>
          </a:xfrm>
          <a:prstGeom prst="rect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zh-CN" altLang="en-US" sz="2600" dirty="0" smtClean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函数</a:t>
            </a:r>
            <a:r>
              <a:rPr lang="zh-CN" altLang="en-US" sz="26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文件：</a:t>
            </a:r>
          </a:p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endParaRPr lang="en-US" altLang="zh-CN" sz="2600" dirty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6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function  betaf(</a:t>
            </a:r>
            <a:r>
              <a:rPr lang="en-US" altLang="zh-CN" sz="2600" dirty="0" err="1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t,z,w</a:t>
            </a:r>
            <a:r>
              <a:rPr lang="en-US" altLang="zh-CN" sz="26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endParaRPr lang="en-US" altLang="zh-CN" sz="2600" dirty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en-US" altLang="zh-CN" sz="26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f=t.^(z-1).*(1-t)^(w-1)</a:t>
            </a:r>
          </a:p>
          <a:p>
            <a:pPr eaLnBrk="1" hangingPunct="1">
              <a:spcBef>
                <a:spcPts val="645"/>
              </a:spcBef>
              <a:buClr>
                <a:schemeClr val="accent2"/>
              </a:buClr>
              <a:buSzPct val="60000"/>
              <a:buFont typeface="Wingdings" panose="05000000000000000000"/>
              <a:buNone/>
            </a:pPr>
            <a:r>
              <a:rPr lang="zh-CN" altLang="en-US" sz="2600" dirty="0" smtClean="0">
                <a:solidFill>
                  <a:srgbClr val="1B00C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注意参数顺序！</a:t>
            </a:r>
            <a:endParaRPr lang="zh-CN" altLang="en-US" sz="2600" dirty="0">
              <a:solidFill>
                <a:srgbClr val="1B00C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3647" y="5380110"/>
            <a:ext cx="73495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800" dirty="0" err="1" smtClean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tol</a:t>
            </a:r>
            <a:r>
              <a:rPr lang="zh-CN" altLang="en-US" sz="2800" dirty="0" smtClean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：积分精度</a:t>
            </a:r>
            <a:r>
              <a:rPr lang="zh-CN" altLang="en-US" sz="2800" dirty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，是指令</a:t>
            </a:r>
            <a:r>
              <a:rPr lang="en-US" altLang="zh-CN" sz="2800" dirty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quad</a:t>
            </a:r>
            <a:r>
              <a:rPr lang="zh-CN" altLang="en-US" sz="2800" dirty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的另一种用法。</a:t>
            </a:r>
          </a:p>
        </p:txBody>
      </p:sp>
      <p:sp>
        <p:nvSpPr>
          <p:cNvPr id="9" name="页脚占位符 3"/>
          <p:cNvSpPr txBox="1"/>
          <p:nvPr/>
        </p:nvSpPr>
        <p:spPr>
          <a:xfrm>
            <a:off x="2771800" y="6387985"/>
            <a:ext cx="338437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§3.2.6  </a:t>
            </a:r>
            <a:r>
              <a:rPr lang="zh-CN" altLang="en-US" dirty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积分（</a:t>
            </a:r>
            <a:r>
              <a:rPr lang="en-US" altLang="zh-CN" dirty="0" err="1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quad</a:t>
            </a:r>
            <a:r>
              <a:rPr lang="en-US" altLang="zh-CN" dirty="0" err="1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en-US" altLang="zh-CN" dirty="0" err="1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quadl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619672" y="1185033"/>
                <a:ext cx="6192688" cy="593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000000"/>
                    </a:solidFill>
                    <a:ea typeface="楷体" panose="02010609060101010101" pitchFamily="49" charset="-122"/>
                    <a:cs typeface="Arial" panose="020B0604020202020204" pitchFamily="34" charset="0"/>
                  </a:rPr>
                  <a:t>计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Arial" panose="020B0604020202020204" pitchFamily="34" charset="0"/>
                  </a:rPr>
                  <a:t>算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limLoc m:val="subSup"/>
                        <m:grow m:val="on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1185033"/>
                <a:ext cx="6192688" cy="593176"/>
              </a:xfrm>
              <a:prstGeom prst="rect">
                <a:avLst/>
              </a:prstGeom>
              <a:blipFill rotWithShape="1">
                <a:blip r:embed="rId2"/>
                <a:stretch>
                  <a:fillRect l="-7" t="-21" r="10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899592" y="1202244"/>
            <a:ext cx="54373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lvl="0"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zh-CN" altLang="en-US" sz="2800" dirty="0" smtClean="0">
                <a:ea typeface="楷体" panose="02010609060101010101" pitchFamily="49" charset="-122"/>
                <a:cs typeface="Arial" panose="020B0604020202020204" pitchFamily="34" charset="0"/>
              </a:rPr>
              <a:t>例</a:t>
            </a:r>
            <a:endParaRPr lang="en-US" altLang="zh-CN" sz="2800" dirty="0"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3938381" y="3257179"/>
            <a:ext cx="720080" cy="47453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0" indent="0" algn="ctr" eaLnBrk="1" hangingPunct="1">
              <a:buNone/>
            </a:pPr>
            <a:endParaRPr lang="zh-CN" altLang="en-US" sz="2400" dirty="0" smtClean="0">
              <a:solidFill>
                <a:srgbClr val="00B05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918450" cy="862013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zh-CN" sz="3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§3.2.7 </a:t>
            </a:r>
            <a:r>
              <a:rPr lang="zh-CN" altLang="en-US" sz="3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函数的二重积分</a:t>
            </a:r>
            <a:r>
              <a:rPr lang="en-US" altLang="zh-CN" sz="3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36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dblquad</a:t>
            </a:r>
            <a:r>
              <a:rPr lang="en-US" altLang="zh-CN" sz="3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lang="zh-CN" altLang="en-US" sz="36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95300" y="2637717"/>
                <a:ext cx="8153400" cy="3095539"/>
              </a:xfrm>
            </p:spPr>
            <p:txBody>
              <a:bodyPr>
                <a:noAutofit/>
              </a:bodyPr>
              <a:lstStyle/>
              <a:p>
                <a:pPr marL="0" lvl="1" indent="0">
                  <a:buSzPct val="100000"/>
                  <a:buNone/>
                </a:pPr>
                <a:r>
                  <a:rPr lang="zh-CN" altLang="en-US" dirty="0" smtClean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 计算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solidFill>
                              <a:schemeClr val="tx2"/>
                            </a:solidFill>
                            <a:latin typeface="Cambria Math" panose="02040503050406030204"/>
                          </a:rPr>
                        </m:ctrlPr>
                      </m:dPr>
                      <m:e>
                        <m:nary>
                          <m:naryPr>
                            <m:limLoc m:val="subSup"/>
                            <m:grow m:val="on"/>
                            <m:ctrlPr>
                              <a:rPr lang="zh-CN" altLang="en-US" sz="2400" i="1">
                                <a:solidFill>
                                  <a:schemeClr val="tx2"/>
                                </a:solidFill>
                                <a:latin typeface="Cambria Math" panose="02040503050406030204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b>
                          <m:sup>
                            <m:r>
                              <a:rPr lang="zh-CN" altLang="en-US" sz="240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</m:nary>
                        <m:r>
                          <a:rPr lang="zh-CN" alt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nary>
                          <m:naryPr>
                            <m:limLoc m:val="subSup"/>
                            <m:grow m:val="on"/>
                            <m:ctrlPr>
                              <a:rPr lang="zh-CN" altLang="en-US" sz="2400" i="1">
                                <a:solidFill>
                                  <a:schemeClr val="tx2"/>
                                </a:solidFill>
                                <a:latin typeface="Cambria Math" panose="02040503050406030204"/>
                              </a:rPr>
                            </m:ctrlPr>
                          </m:naryPr>
                          <m:sub>
                            <m:r>
                              <a:rPr lang="zh-CN" altLang="en-US" sz="240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</m:nary>
                        <m:r>
                          <a:rPr lang="zh-CN" alt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4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zh-CN" alt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zh-CN" alt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sz="2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1" indent="0">
                  <a:buSzPct val="100000"/>
                  <a:buNone/>
                </a:pPr>
                <a:endParaRPr lang="en-US" altLang="zh-CN" sz="24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&gt;&gt;</a:t>
                </a:r>
                <a:r>
                  <a:rPr lang="en-US" altLang="zh-CN" sz="2400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ff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=inline(‘y.*sin(x)+x.*</a:t>
                </a:r>
                <a:r>
                  <a:rPr lang="en-US" altLang="zh-CN" sz="2400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cos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(y)’,‘</a:t>
                </a:r>
                <a:r>
                  <a:rPr lang="en-US" altLang="zh-CN" sz="2400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x’,‘y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’)          </a:t>
                </a:r>
                <a:r>
                  <a:rPr lang="zh-CN" altLang="en-US" sz="2400" dirty="0">
                    <a:solidFill>
                      <a:srgbClr val="1B0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％建立积分函数</a:t>
                </a:r>
                <a:endParaRPr lang="en-US" altLang="zh-CN" sz="2400" dirty="0">
                  <a:solidFill>
                    <a:srgbClr val="1B0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&gt;&gt;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dblquad(ff,pi,2*pi,0,pi)</a:t>
                </a:r>
              </a:p>
              <a:p>
                <a:pPr marL="0" indent="0">
                  <a:buNone/>
                </a:pPr>
                <a:r>
                  <a:rPr lang="zh-CN" altLang="en-US" sz="2400" dirty="0" smtClean="0">
                    <a:solidFill>
                      <a:srgbClr val="1B0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   ％ </a:t>
                </a:r>
                <a:r>
                  <a:rPr lang="en-US" altLang="zh-CN" sz="2400" dirty="0" err="1" smtClean="0">
                    <a:solidFill>
                      <a:srgbClr val="1B0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x,y</a:t>
                </a:r>
                <a:r>
                  <a:rPr lang="zh-CN" altLang="en-US" sz="2400" dirty="0" smtClean="0">
                    <a:solidFill>
                      <a:srgbClr val="1B0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的</a:t>
                </a:r>
                <a:r>
                  <a:rPr lang="zh-CN" altLang="en-US" sz="2400" dirty="0">
                    <a:solidFill>
                      <a:srgbClr val="1B0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积分区间为</a:t>
                </a:r>
                <a:r>
                  <a:rPr lang="en-US" altLang="zh-CN" sz="2400" dirty="0">
                    <a:solidFill>
                      <a:srgbClr val="1B0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(pi,2*pi) ,(0,pi) </a:t>
                </a:r>
                <a:endParaRPr lang="en-US" altLang="zh-CN" sz="2400" dirty="0" smtClean="0">
                  <a:solidFill>
                    <a:srgbClr val="1B0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err="1" smtClean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ans</a:t>
                </a:r>
                <a:r>
                  <a:rPr lang="en-US" altLang="zh-CN" sz="2400" dirty="0" smtClean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 -9.8696</a:t>
                </a:r>
              </a:p>
            </p:txBody>
          </p:sp>
        </mc:Choice>
        <mc:Fallback xmlns="">
          <p:sp>
            <p:nvSpPr>
              <p:cNvPr id="3584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300" y="2637717"/>
                <a:ext cx="8153400" cy="3095539"/>
              </a:xfrm>
              <a:blipFill rotWithShape="1">
                <a:blip r:embed="rId2"/>
                <a:stretch>
                  <a:fillRect t="-18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3"/>
          <p:cNvSpPr txBox="1"/>
          <p:nvPr/>
        </p:nvSpPr>
        <p:spPr>
          <a:xfrm>
            <a:off x="2771800" y="6387985"/>
            <a:ext cx="374441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§3.2.7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函数的二重积分（</a:t>
            </a:r>
            <a:r>
              <a:rPr lang="en-US" altLang="zh-CN" dirty="0" err="1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dblquad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9512" y="1700807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37820" lvl="1" eaLnBrk="1" fontAlgn="auto" hangingPunct="1">
              <a:spcBef>
                <a:spcPts val="510"/>
              </a:spcBef>
              <a:spcAft>
                <a:spcPts val="0"/>
              </a:spcAft>
              <a:buClr>
                <a:srgbClr val="3891A7"/>
              </a:buClr>
              <a:buSzPct val="100000"/>
            </a:pPr>
            <a:r>
              <a:rPr lang="zh-CN" altLang="en-US" sz="2400" dirty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指令</a:t>
            </a:r>
            <a:r>
              <a:rPr lang="en-US" altLang="zh-CN" sz="2400" dirty="0" err="1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dblquad</a:t>
            </a:r>
            <a:r>
              <a:rPr lang="zh-CN" altLang="en-US" sz="2400" dirty="0">
                <a:solidFill>
                  <a:srgbClr val="4F271C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zh-CN" altLang="en-US" sz="2400" dirty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二重积分，积分区间顺序与变量</a:t>
            </a:r>
            <a:r>
              <a:rPr lang="zh-CN" altLang="en-US" sz="2400" dirty="0" smtClean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顺序相同</a:t>
            </a:r>
            <a:r>
              <a:rPr lang="zh-CN" altLang="en-US" sz="2400" dirty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。</a:t>
            </a:r>
            <a:endParaRPr lang="en-US" altLang="zh-CN" sz="2400" dirty="0">
              <a:solidFill>
                <a:prstClr val="black"/>
              </a:solidFill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5414" y="2668341"/>
            <a:ext cx="54373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ea typeface="楷体" panose="02010609060101010101" pitchFamily="49" charset="-122"/>
                <a:cs typeface="Arial" panose="020B0604020202020204" pitchFamily="34" charset="0"/>
              </a:rPr>
              <a:t>例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xfrm>
            <a:off x="539552" y="203367"/>
            <a:ext cx="8604448" cy="856704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zh-CN" sz="3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§3.2.8 </a:t>
            </a:r>
            <a:r>
              <a:rPr lang="zh-CN" altLang="en-US" sz="3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函数的三重积分</a:t>
            </a:r>
            <a:r>
              <a:rPr lang="zh-CN" altLang="en-US" sz="3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36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triplequad</a:t>
            </a:r>
            <a:r>
              <a:rPr lang="zh-CN" altLang="en-US" sz="3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>
          <a:xfrm>
            <a:off x="85455" y="1484784"/>
            <a:ext cx="8623868" cy="1195709"/>
          </a:xfrm>
        </p:spPr>
        <p:txBody>
          <a:bodyPr>
            <a:noAutofit/>
          </a:bodyPr>
          <a:lstStyle/>
          <a:p>
            <a:pPr marL="337820" lvl="1" indent="0">
              <a:lnSpc>
                <a:spcPct val="150000"/>
              </a:lnSpc>
              <a:buSzPct val="100000"/>
              <a:buNone/>
              <a:defRPr/>
            </a:pPr>
            <a:r>
              <a:rPr lang="zh-CN" altLang="en-US" dirty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指令</a:t>
            </a:r>
            <a:r>
              <a:rPr lang="en-US" altLang="zh-CN" dirty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triplequad</a:t>
            </a:r>
            <a:r>
              <a:rPr lang="zh-CN" altLang="en-US" dirty="0" smtClean="0">
                <a:solidFill>
                  <a:srgbClr val="1B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三重积分，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积分区间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与变量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同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顺序，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7820" lvl="1" indent="0">
              <a:lnSpc>
                <a:spcPct val="150000"/>
              </a:lnSpc>
              <a:buSzPct val="100000"/>
              <a:buNone/>
              <a:defRPr/>
            </a:pPr>
            <a:r>
              <a:rPr lang="zh-CN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可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规定积分精度</a:t>
            </a:r>
            <a:r>
              <a:rPr lang="zh-CN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7179" y="3680404"/>
            <a:ext cx="3928812" cy="2677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marL="0" indent="0" eaLnBrk="1" hangingPunct="1">
              <a:buNone/>
              <a:defRPr/>
            </a:pPr>
            <a:r>
              <a:rPr lang="zh-CN" altLang="en-US" sz="2400" dirty="0" smtClean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方法一：</a:t>
            </a:r>
            <a:endParaRPr lang="en-US" altLang="zh-CN" sz="2400" dirty="0" smtClean="0">
              <a:solidFill>
                <a:srgbClr val="1B00C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&gt;&gt;</a:t>
            </a:r>
            <a:r>
              <a:rPr lang="en-US" altLang="zh-CN" sz="2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Q = triplequad(@(</a:t>
            </a:r>
            <a:r>
              <a:rPr lang="en-US" altLang="zh-CN" sz="2400" dirty="0" err="1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x,y,z</a:t>
            </a:r>
            <a:r>
              <a:rPr lang="en-US" altLang="zh-CN" sz="2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) (y*sin(x)+z*</a:t>
            </a:r>
            <a:r>
              <a:rPr lang="en-US" altLang="zh-CN" sz="2400" dirty="0" err="1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cos</a:t>
            </a:r>
            <a:r>
              <a:rPr lang="en-US" altLang="zh-CN" sz="2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(x)), 0, pi, 0, 1, -1, 1)</a:t>
            </a: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Q = </a:t>
            </a:r>
            <a:r>
              <a:rPr lang="en-US" altLang="zh-CN" sz="24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endParaRPr lang="en-US" altLang="zh-CN" sz="2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27984" y="3680404"/>
            <a:ext cx="4459612" cy="2677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eaLnBrk="1" hangingPunct="1">
              <a:buNone/>
              <a:defRPr/>
            </a:pPr>
            <a:r>
              <a:rPr lang="zh-CN" altLang="en-US" sz="2400" dirty="0" smtClean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方法二：</a:t>
            </a:r>
            <a:endParaRPr lang="en-US" altLang="zh-CN" sz="2400" dirty="0" smtClean="0">
              <a:solidFill>
                <a:srgbClr val="1B00C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函数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文件</a:t>
            </a:r>
            <a:r>
              <a:rPr lang="en-US" altLang="zh-CN" sz="2400" dirty="0" err="1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integrnd.m</a:t>
            </a:r>
            <a:endParaRPr lang="en-US" altLang="zh-CN" sz="2400" dirty="0" smtClean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indent="0" eaLnBrk="1" hangingPunct="1">
              <a:buNone/>
              <a:defRPr/>
            </a:pPr>
            <a:r>
              <a:rPr lang="es-ES" altLang="zh-CN" sz="24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function f = integrnd(x, y, z)</a:t>
            </a:r>
          </a:p>
          <a:p>
            <a:pPr marL="0" indent="0" eaLnBrk="1" hangingPunct="1">
              <a:buNone/>
              <a:defRPr/>
            </a:pPr>
            <a:r>
              <a:rPr lang="es-ES" altLang="zh-CN" sz="24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f </a:t>
            </a:r>
            <a:r>
              <a:rPr lang="es-ES" altLang="zh-CN" sz="2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= y*sin(x)+z*cos(x);  </a:t>
            </a:r>
          </a:p>
          <a:p>
            <a:pPr marL="342900" indent="-34290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s-ES" sz="24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用</a:t>
            </a:r>
            <a:r>
              <a:rPr lang="es-ES" altLang="zh-CN" sz="24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@</a:t>
            </a:r>
            <a:r>
              <a:rPr lang="zh-CN" altLang="es-ES" sz="2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调用函数</a:t>
            </a: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&gt;&gt;</a:t>
            </a:r>
            <a:r>
              <a:rPr lang="es-ES" altLang="zh-CN" sz="24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Q = triplequad(@integrnd, 0, pi, 0, 1, -1, 1)</a:t>
            </a:r>
            <a:endParaRPr lang="en-US" altLang="zh-CN" sz="24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页脚占位符 3"/>
          <p:cNvSpPr txBox="1"/>
          <p:nvPr/>
        </p:nvSpPr>
        <p:spPr>
          <a:xfrm>
            <a:off x="2699792" y="6400800"/>
            <a:ext cx="374441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§3.2.8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函数的二重积分（</a:t>
            </a:r>
            <a:r>
              <a:rPr lang="en-US" altLang="zh-CN" dirty="0" err="1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dblquad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19506" y="2668549"/>
            <a:ext cx="6600857" cy="874741"/>
            <a:chOff x="275398" y="2482822"/>
            <a:chExt cx="6600857" cy="8747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/>
                <p:cNvSpPr/>
                <p:nvPr/>
              </p:nvSpPr>
              <p:spPr>
                <a:xfrm>
                  <a:off x="275398" y="2666024"/>
                  <a:ext cx="6600857" cy="64504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 eaLnBrk="1" fontAlgn="auto" hangingPunct="1">
                    <a:spcBef>
                      <a:spcPts val="645"/>
                    </a:spcBef>
                    <a:spcAft>
                      <a:spcPts val="0"/>
                    </a:spcAft>
                    <a:buClr>
                      <a:srgbClr val="FEB80A"/>
                    </a:buClr>
                    <a:buSzPct val="60000"/>
                    <a:defRPr/>
                  </a:pPr>
                  <a:r>
                    <a:rPr lang="zh-CN" altLang="en-US" sz="2400" dirty="0" smtClean="0">
                      <a:solidFill>
                        <a:prstClr val="black"/>
                      </a:solidFill>
                      <a:ea typeface="楷体" panose="02010609060101010101" pitchFamily="49" charset="-122"/>
                      <a:cs typeface="Arial" panose="020B0604020202020204" pitchFamily="34" charset="0"/>
                    </a:rPr>
                    <a:t>计算</a:t>
                  </a:r>
                  <a14:m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</m:ctrlPr>
                        </m:dPr>
                        <m:e>
                          <m:nary>
                            <m:naryPr>
                              <m:limLoc m:val="subSup"/>
                              <m:grow m:val="on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a:rPr lang="zh-CN" alt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nary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nary>
                            <m:naryPr>
                              <m:limLoc m:val="subSup"/>
                              <m:grow m:val="on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a:rPr lang="zh-CN" alt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nary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nary>
                            <m:naryPr>
                              <m:limLoc m:val="subSup"/>
                              <m:grow m:val="on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</m:ctrlPr>
                            </m:naryPr>
                            <m:sub>
                              <m:r>
                                <a:rPr lang="zh-CN" alt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zh-CN" alt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nary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m:rPr>
                              <m:sty m:val="p"/>
                            </m:rP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)</m:t>
                          </m:r>
                        </m:e>
                      </m:d>
                    </m:oMath>
                  </a14:m>
                  <a:endParaRPr lang="en-US" altLang="zh-CN" sz="2400" dirty="0">
                    <a:solidFill>
                      <a:prstClr val="black"/>
                    </a:solidFill>
                    <a:ea typeface="楷体" panose="02010609060101010101" pitchFamily="49" charset="-122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" name="矩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398" y="2666024"/>
                  <a:ext cx="6600857" cy="645048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/>
            <p:cNvSpPr txBox="1"/>
            <p:nvPr/>
          </p:nvSpPr>
          <p:spPr>
            <a:xfrm rot="5400000">
              <a:off x="5983979" y="2689360"/>
              <a:ext cx="87474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413961" y="2880881"/>
            <a:ext cx="54373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ea typeface="楷体" panose="02010609060101010101" pitchFamily="49" charset="-122"/>
                <a:cs typeface="Arial" panose="020B0604020202020204" pitchFamily="34" charset="0"/>
              </a:rPr>
              <a:t>例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621407" y="-17839"/>
            <a:ext cx="8045201" cy="1143000"/>
          </a:xfrm>
        </p:spPr>
        <p:txBody>
          <a:bodyPr/>
          <a:lstStyle/>
          <a:p>
            <a:pPr algn="ctr" eaLnBrk="1" hangingPunct="1"/>
            <a:r>
              <a:rPr lang="en-US" altLang="zh-CN" sz="4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§3.3  </a:t>
            </a:r>
            <a:r>
              <a:rPr lang="zh-CN" altLang="en-US" sz="4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用符号工具箱计算微积分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647564" y="4005064"/>
            <a:ext cx="3132348" cy="1152129"/>
          </a:xfrm>
          <a:prstGeom prst="cloudCallout">
            <a:avLst>
              <a:gd name="adj1" fmla="val 27665"/>
              <a:gd name="adj2" fmla="val -82227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这些指令用法简单而且相似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页脚占位符 3"/>
          <p:cNvSpPr txBox="1"/>
          <p:nvPr/>
        </p:nvSpPr>
        <p:spPr>
          <a:xfrm>
            <a:off x="2771800" y="6387985"/>
            <a:ext cx="374441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§3.3  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用符号工具箱计算微积分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7564" y="1628800"/>
            <a:ext cx="7848872" cy="19266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eaLnBrk="1" fontAlgn="auto" hangingPunct="1">
              <a:lnSpc>
                <a:spcPct val="130000"/>
              </a:lnSpc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800" dirty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diff</a:t>
            </a:r>
            <a:r>
              <a:rPr lang="en-US" altLang="zh-CN" sz="2800" dirty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r>
              <a:rPr lang="en-US" altLang="zh-CN" sz="2800" dirty="0" smtClean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800" dirty="0" smtClean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符号</a:t>
            </a:r>
            <a:r>
              <a:rPr lang="zh-CN" altLang="en-US" sz="2800" dirty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变量微分    </a:t>
            </a:r>
            <a:r>
              <a:rPr lang="zh-CN" altLang="en-US" sz="2800" dirty="0" smtClean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r>
              <a:rPr lang="en-US" altLang="zh-CN" sz="2800" dirty="0" err="1" smtClean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taylor</a:t>
            </a:r>
            <a:r>
              <a:rPr lang="en-US" altLang="zh-CN" sz="2800" dirty="0" smtClean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    </a:t>
            </a:r>
            <a:r>
              <a:rPr lang="zh-CN" altLang="en-US" sz="2800" dirty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泰勒展开</a:t>
            </a:r>
            <a:endParaRPr lang="en-US" altLang="zh-CN" sz="2800" dirty="0">
              <a:solidFill>
                <a:prstClr val="black"/>
              </a:solidFill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lvl="0" eaLnBrk="1" fontAlgn="auto" hangingPunct="1">
              <a:lnSpc>
                <a:spcPct val="130000"/>
              </a:lnSpc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800" dirty="0" err="1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int</a:t>
            </a:r>
            <a:r>
              <a:rPr lang="en-US" altLang="zh-CN" sz="2800" dirty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</a:t>
            </a:r>
            <a:r>
              <a:rPr lang="en-US" altLang="zh-CN" sz="2800" dirty="0" smtClean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800" dirty="0" smtClean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符号</a:t>
            </a:r>
            <a:r>
              <a:rPr lang="zh-CN" altLang="en-US" sz="2800" dirty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变量积分   </a:t>
            </a:r>
            <a:r>
              <a:rPr lang="zh-CN" altLang="en-US" sz="2800" dirty="0" smtClean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 </a:t>
            </a:r>
            <a:r>
              <a:rPr lang="en-US" altLang="zh-CN" sz="2800" dirty="0" err="1" smtClean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symsum</a:t>
            </a:r>
            <a:r>
              <a:rPr lang="en-US" altLang="zh-CN" sz="2800" dirty="0" smtClean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</a:t>
            </a:r>
            <a:r>
              <a:rPr lang="zh-CN" altLang="en-US" sz="2800" dirty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求级数和</a:t>
            </a:r>
            <a:endParaRPr lang="en-US" altLang="zh-CN" sz="2800" dirty="0">
              <a:solidFill>
                <a:prstClr val="black"/>
              </a:solidFill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lvl="0" eaLnBrk="1" fontAlgn="auto" hangingPunct="1">
              <a:lnSpc>
                <a:spcPct val="130000"/>
              </a:lnSpc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en-US" altLang="zh-CN" sz="2800" dirty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limit</a:t>
            </a:r>
            <a:r>
              <a:rPr lang="en-US" altLang="zh-CN" sz="2800" dirty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</a:t>
            </a:r>
            <a:r>
              <a:rPr lang="zh-CN" altLang="en-US" sz="2800" dirty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求极限              </a:t>
            </a:r>
            <a:r>
              <a:rPr lang="zh-CN" altLang="en-US" sz="2800" dirty="0" smtClean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 </a:t>
            </a:r>
            <a:r>
              <a:rPr lang="en-US" altLang="zh-CN" sz="2800" dirty="0" smtClean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simple</a:t>
            </a:r>
            <a:r>
              <a:rPr lang="en-US" altLang="zh-CN" sz="2800" dirty="0" smtClean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      </a:t>
            </a:r>
            <a:r>
              <a:rPr lang="zh-CN" altLang="en-US" sz="2800" dirty="0">
                <a:solidFill>
                  <a:prstClr val="black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将表达式化简  </a:t>
            </a:r>
            <a:endParaRPr lang="en-US" altLang="zh-CN" sz="2800" dirty="0">
              <a:solidFill>
                <a:prstClr val="black"/>
              </a:solidFill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07850" y="5240813"/>
            <a:ext cx="43885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fontAlgn="auto" hangingPunct="1">
              <a:spcBef>
                <a:spcPts val="645"/>
              </a:spcBef>
              <a:spcAft>
                <a:spcPts val="0"/>
              </a:spcAft>
              <a:buClr>
                <a:srgbClr val="FEB80A"/>
              </a:buClr>
              <a:buSzPct val="60000"/>
            </a:pPr>
            <a:r>
              <a:rPr lang="zh-CN" altLang="en-US" sz="2600" dirty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本节为阅读内容</a:t>
            </a:r>
            <a:r>
              <a:rPr lang="zh-CN" altLang="en-US" sz="2600" dirty="0" smtClean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，实例</a:t>
            </a:r>
            <a:r>
              <a:rPr lang="zh-CN" altLang="en-US" sz="2600" dirty="0">
                <a:solidFill>
                  <a:srgbClr val="1B00C0"/>
                </a:solidFill>
                <a:ea typeface="楷体" panose="02010609060101010101" pitchFamily="49" charset="-122"/>
                <a:cs typeface="Arial" panose="020B0604020202020204" pitchFamily="34" charset="0"/>
              </a:rPr>
              <a:t>看书。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标题 1"/>
          <p:cNvSpPr>
            <a:spLocks noGrp="1"/>
          </p:cNvSpPr>
          <p:nvPr>
            <p:ph type="title"/>
          </p:nvPr>
        </p:nvSpPr>
        <p:spPr>
          <a:xfrm>
            <a:off x="584376" y="188640"/>
            <a:ext cx="8153400" cy="856704"/>
          </a:xfrm>
        </p:spPr>
        <p:txBody>
          <a:bodyPr/>
          <a:lstStyle/>
          <a:p>
            <a:pPr algn="ctr" eaLnBrk="1" hangingPunct="1"/>
            <a:r>
              <a:rPr lang="en-US" altLang="zh-CN" sz="4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§3.4  </a:t>
            </a:r>
            <a:r>
              <a:rPr lang="zh-CN" altLang="en-US" sz="4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环形电流的磁场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55576" y="2133427"/>
                <a:ext cx="3732101" cy="244827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800" dirty="0" smtClean="0">
                    <a:solidFill>
                      <a:srgbClr val="1B00C0"/>
                    </a:solidFill>
                  </a:rPr>
                  <a:t>点电流密度：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sz="2800" i="1" dirty="0">
                        <a:solidFill>
                          <a:srgbClr val="1B00C0"/>
                        </a:solidFill>
                        <a:latin typeface="Cambria Math" panose="02040503050406030204"/>
                      </a:rPr>
                      <m:t>处</m:t>
                    </m:r>
                  </m:oMath>
                </a14:m>
                <a:r>
                  <a:rPr lang="zh-CN" altLang="en-US" sz="2800" dirty="0" smtClean="0">
                    <a:solidFill>
                      <a:srgbClr val="1B00C0"/>
                    </a:solidFill>
                  </a:rPr>
                  <a:t>磁场：</a:t>
                </a:r>
                <a:endParaRPr lang="en-US" altLang="zh-CN" sz="2800" dirty="0">
                  <a:solidFill>
                    <a:srgbClr val="1B0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zh-CN" altLang="en-US" sz="2800" i="1">
                              <a:latin typeface="Cambria Math" panose="02040503050406030204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latin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8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zh-CN" altLang="en-US" sz="280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en-US" altLang="zh-CN" sz="2800" b="1" dirty="0"/>
              </a:p>
              <a:p>
                <a:pPr marL="0" indent="0">
                  <a:buNone/>
                </a:pPr>
                <a:r>
                  <a:rPr lang="zh-CN" altLang="en-US" sz="2800" dirty="0">
                    <a:solidFill>
                      <a:srgbClr val="1B00C0"/>
                    </a:solidFill>
                  </a:rPr>
                  <a:t>其中</a:t>
                </a:r>
                <a:endParaRPr lang="en-US" altLang="zh-CN" sz="2800" dirty="0">
                  <a:solidFill>
                    <a:srgbClr val="1B00C0"/>
                  </a:solidFill>
                </a:endParaRPr>
              </a:p>
            </p:txBody>
          </p:sp>
        </mc:Choice>
        <mc:Fallback xmlns="">
          <p:sp>
            <p:nvSpPr>
              <p:cNvPr id="1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5576" y="2133427"/>
                <a:ext cx="3732101" cy="2448272"/>
              </a:xfrm>
              <a:blipFill rotWithShape="1">
                <a:blip r:embed="rId3"/>
                <a:stretch>
                  <a:fillRect l="-15" t="-19" r="4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920" name="Object 8"/>
          <p:cNvGraphicFramePr>
            <a:graphicFrameLocks noChangeAspect="1"/>
          </p:cNvGraphicFramePr>
          <p:nvPr/>
        </p:nvGraphicFramePr>
        <p:xfrm>
          <a:off x="3910013" y="5437188"/>
          <a:ext cx="3810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56" name="Equation" r:id="rId4" imgW="114300" imgH="177800" progId="">
                  <p:embed/>
                </p:oleObj>
              </mc:Choice>
              <mc:Fallback>
                <p:oleObj name="Equation" r:id="rId4" imgW="114300" imgH="177800" progId="">
                  <p:embed/>
                  <p:pic>
                    <p:nvPicPr>
                      <p:cNvPr id="0" name="Picture 4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013" y="5437188"/>
                        <a:ext cx="381000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9"/>
          <p:cNvGraphicFramePr>
            <a:graphicFrameLocks noChangeAspect="1"/>
          </p:cNvGraphicFramePr>
          <p:nvPr/>
        </p:nvGraphicFramePr>
        <p:xfrm>
          <a:off x="3848100" y="4413250"/>
          <a:ext cx="2841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57" name="Equation" r:id="rId6" imgW="114300" imgH="177800" progId="">
                  <p:embed/>
                </p:oleObj>
              </mc:Choice>
              <mc:Fallback>
                <p:oleObj name="Equation" r:id="rId6" imgW="114300" imgH="177800" progId="">
                  <p:embed/>
                  <p:pic>
                    <p:nvPicPr>
                      <p:cNvPr id="0" name="Picture 4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4413250"/>
                        <a:ext cx="284163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915816" y="5748784"/>
            <a:ext cx="4745402" cy="523220"/>
          </a:xfrm>
          <a:prstGeom prst="rect">
            <a:avLst/>
          </a:prstGeom>
          <a:blipFill rotWithShape="0">
            <a:blip r:embed="rId7" cstate="print"/>
            <a:stretch>
              <a:fillRect/>
            </a:stretch>
          </a:blipFill>
          <a:ln>
            <a:noFill/>
          </a:ln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034459" y="4905964"/>
                <a:ext cx="619560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zh-CN" altLang="en-US" sz="280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zh-CN" altLang="en-US" sz="280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459" y="4905964"/>
                <a:ext cx="6195607" cy="523220"/>
              </a:xfrm>
              <a:prstGeom prst="rect">
                <a:avLst/>
              </a:prstGeom>
              <a:blipFill rotWithShape="1">
                <a:blip r:embed="rId8"/>
                <a:stretch>
                  <a:fillRect l="-1" t="-113" r="10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689" y="1717856"/>
            <a:ext cx="3900282" cy="286384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1" name="页脚占位符 3"/>
          <p:cNvSpPr txBox="1"/>
          <p:nvPr/>
        </p:nvSpPr>
        <p:spPr>
          <a:xfrm>
            <a:off x="2771800" y="6387985"/>
            <a:ext cx="374441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§3.4  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环形电流的磁场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C7B308C7-4C62-4E8D-9306-D2A8B5EE07D1}" type="slidenum">
              <a:rPr lang="zh-CN" altLang="en-US" sz="1400" b="1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24</a:t>
            </a:fld>
            <a:endParaRPr lang="zh-CN" altLang="en-US" sz="1400" b="1" smtClean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611560" y="1916832"/>
                <a:ext cx="8280400" cy="184308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zh-CN" altLang="en-US" sz="2800" dirty="0" smtClean="0">
                    <a:solidFill>
                      <a:srgbClr val="1B00C0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800" dirty="0" smtClean="0">
                    <a:solidFill>
                      <a:srgbClr val="1B00C0"/>
                    </a:solidFill>
                  </a:rPr>
                  <a:t>点在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𝑦𝑜𝑧</m:t>
                    </m:r>
                  </m:oMath>
                </a14:m>
                <a:r>
                  <a:rPr lang="zh-CN" altLang="en-US" sz="2800" dirty="0" smtClean="0">
                    <a:solidFill>
                      <a:srgbClr val="1B00C0"/>
                    </a:solidFill>
                  </a:rPr>
                  <a:t>平面时，其坐标为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zh-CN" altLang="en-US" sz="2800" dirty="0" smtClean="0">
                    <a:solidFill>
                      <a:srgbClr val="1B00C0"/>
                    </a:solidFill>
                  </a:rPr>
                  <a:t>且有</a:t>
                </a:r>
                <a:endParaRPr lang="en-US" altLang="zh-CN" sz="2800" dirty="0" smtClean="0">
                  <a:solidFill>
                    <a:srgbClr val="1B00C0"/>
                  </a:solidFill>
                </a:endParaRPr>
              </a:p>
              <a:p>
                <a:pPr marL="0" indent="0">
                  <a:buNone/>
                </a:pPr>
                <a:endParaRPr lang="en-US" altLang="zh-CN" sz="2800" dirty="0" smtClean="0"/>
              </a:p>
              <a:p>
                <a:pPr marL="0" indent="0">
                  <a:buNone/>
                </a:pPr>
                <a:r>
                  <a:rPr lang="zh-CN" altLang="en-US" sz="2800" dirty="0" smtClean="0">
                    <a:solidFill>
                      <a:srgbClr val="1B00C0"/>
                    </a:solidFill>
                  </a:rPr>
                  <a:t>取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800" b="1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800" dirty="0" smtClean="0">
                    <a:solidFill>
                      <a:srgbClr val="1B00C0"/>
                    </a:solidFill>
                  </a:rPr>
                  <a:t>式中的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800" dirty="0" smtClean="0">
                    <a:solidFill>
                      <a:srgbClr val="1B00C0"/>
                    </a:solidFill>
                  </a:rPr>
                  <a:t>,</a:t>
                </a:r>
                <a:r>
                  <a:rPr lang="zh-CN" altLang="en-US" sz="2800" dirty="0" smtClean="0">
                    <a:solidFill>
                      <a:srgbClr val="1B00C0"/>
                    </a:solidFill>
                  </a:rPr>
                  <a:t>得到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𝑦𝑜𝑧</m:t>
                    </m:r>
                  </m:oMath>
                </a14:m>
                <a:r>
                  <a:rPr lang="zh-CN" altLang="en-US" sz="2800" dirty="0" smtClean="0">
                    <a:solidFill>
                      <a:srgbClr val="1B00C0"/>
                    </a:solidFill>
                  </a:rPr>
                  <a:t>面上点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800" i="1" dirty="0" smtClean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 smtClean="0">
                    <a:solidFill>
                      <a:srgbClr val="1B00C0"/>
                    </a:solidFill>
                  </a:rPr>
                  <a:t>产生的磁场。此时有</a:t>
                </a:r>
              </a:p>
            </p:txBody>
          </p:sp>
        </mc:Choice>
        <mc:Fallback xmlns="">
          <p:sp>
            <p:nvSpPr>
              <p:cNvPr id="11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11560" y="1916832"/>
                <a:ext cx="8280400" cy="1843088"/>
              </a:xfrm>
              <a:blipFill rotWithShape="1">
                <a:blip r:embed="rId3"/>
                <a:stretch>
                  <a:fillRect l="-1" t="-22" r="1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939" name="Object 6"/>
          <p:cNvGraphicFramePr>
            <a:graphicFrameLocks noChangeAspect="1"/>
          </p:cNvGraphicFramePr>
          <p:nvPr/>
        </p:nvGraphicFramePr>
        <p:xfrm>
          <a:off x="773113" y="333375"/>
          <a:ext cx="675163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8" name="Equation" r:id="rId4" imgW="2501900" imgH="393700" progId="">
                  <p:embed/>
                </p:oleObj>
              </mc:Choice>
              <mc:Fallback>
                <p:oleObj name="Equation" r:id="rId4" imgW="2501900" imgH="393700" progId="">
                  <p:embed/>
                  <p:pic>
                    <p:nvPicPr>
                      <p:cNvPr id="0" name="Picture 7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113" y="333375"/>
                        <a:ext cx="6751637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8"/>
          <p:cNvGraphicFramePr>
            <a:graphicFrameLocks noChangeAspect="1"/>
          </p:cNvGraphicFramePr>
          <p:nvPr/>
        </p:nvGraphicFramePr>
        <p:xfrm>
          <a:off x="2987824" y="1333499"/>
          <a:ext cx="4454351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49" name="Equation" r:id="rId6" imgW="1905000" imgH="228600" progId="">
                  <p:embed/>
                </p:oleObj>
              </mc:Choice>
              <mc:Fallback>
                <p:oleObj name="Equation" r:id="rId6" imgW="1905000" imgH="228600" progId="">
                  <p:embed/>
                  <p:pic>
                    <p:nvPicPr>
                      <p:cNvPr id="0" name="Picture 7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1333499"/>
                        <a:ext cx="4454351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9"/>
          <p:cNvGraphicFramePr>
            <a:graphicFrameLocks noChangeAspect="1"/>
          </p:cNvGraphicFramePr>
          <p:nvPr/>
        </p:nvGraphicFramePr>
        <p:xfrm>
          <a:off x="2039124" y="2418300"/>
          <a:ext cx="494823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50" name="Equation" r:id="rId8" imgW="2273300" imgH="203200" progId="">
                  <p:embed/>
                </p:oleObj>
              </mc:Choice>
              <mc:Fallback>
                <p:oleObj name="Equation" r:id="rId8" imgW="2273300" imgH="203200" progId="">
                  <p:embed/>
                  <p:pic>
                    <p:nvPicPr>
                      <p:cNvPr id="0" name="Picture 7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124" y="2418300"/>
                        <a:ext cx="4948237" cy="442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10"/>
          <p:cNvGraphicFramePr>
            <a:graphicFrameLocks noChangeAspect="1"/>
          </p:cNvGraphicFramePr>
          <p:nvPr/>
        </p:nvGraphicFramePr>
        <p:xfrm>
          <a:off x="985838" y="3860800"/>
          <a:ext cx="52181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51" name="Equation" r:id="rId10" imgW="2336800" imgH="419100" progId="">
                  <p:embed/>
                </p:oleObj>
              </mc:Choice>
              <mc:Fallback>
                <p:oleObj name="Equation" r:id="rId10" imgW="2336800" imgH="419100" progId="">
                  <p:embed/>
                  <p:pic>
                    <p:nvPicPr>
                      <p:cNvPr id="0" name="Picture 7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3860800"/>
                        <a:ext cx="5218112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11"/>
          <p:cNvGraphicFramePr>
            <a:graphicFrameLocks noChangeAspect="1"/>
          </p:cNvGraphicFramePr>
          <p:nvPr/>
        </p:nvGraphicFramePr>
        <p:xfrm>
          <a:off x="1993900" y="4724400"/>
          <a:ext cx="493395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52" name="Equation" r:id="rId12" imgW="2057400" imgH="508000" progId="">
                  <p:embed/>
                </p:oleObj>
              </mc:Choice>
              <mc:Fallback>
                <p:oleObj name="Equation" r:id="rId12" imgW="2057400" imgH="508000" progId="">
                  <p:embed/>
                  <p:pic>
                    <p:nvPicPr>
                      <p:cNvPr id="0" name="Picture 7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4724400"/>
                        <a:ext cx="493395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页脚占位符 3"/>
          <p:cNvSpPr txBox="1"/>
          <p:nvPr/>
        </p:nvSpPr>
        <p:spPr>
          <a:xfrm>
            <a:off x="2699792" y="6390002"/>
            <a:ext cx="374441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§3.4  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环形电流的磁场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fld id="{D4474F10-CB3E-4779-91B5-12A9D83436EA}" type="slidenum">
              <a:rPr lang="zh-CN" altLang="en-US" sz="1400" b="1" smtClean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25</a:t>
            </a:fld>
            <a:endParaRPr lang="zh-CN" altLang="en-US" sz="1400" b="1" dirty="0" smtClean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964" name="Object 3"/>
          <p:cNvGraphicFramePr>
            <a:graphicFrameLocks noChangeAspect="1"/>
          </p:cNvGraphicFramePr>
          <p:nvPr/>
        </p:nvGraphicFramePr>
        <p:xfrm>
          <a:off x="412750" y="1028700"/>
          <a:ext cx="80660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7" name="Equation" r:id="rId3" imgW="2768600" imgH="393700" progId="">
                  <p:embed/>
                </p:oleObj>
              </mc:Choice>
              <mc:Fallback>
                <p:oleObj name="Equation" r:id="rId3" imgW="2768600" imgH="393700" progId="">
                  <p:embed/>
                  <p:pic>
                    <p:nvPicPr>
                      <p:cNvPr id="0" name="Picture 1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" y="1028700"/>
                        <a:ext cx="8066088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矩形 1"/>
          <p:cNvSpPr>
            <a:spLocks noChangeArrowheads="1"/>
          </p:cNvSpPr>
          <p:nvPr/>
        </p:nvSpPr>
        <p:spPr bwMode="auto">
          <a:xfrm>
            <a:off x="607104" y="535872"/>
            <a:ext cx="703673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r>
              <a:rPr lang="zh-CN" altLang="en-US" sz="2800" dirty="0" smtClean="0">
                <a:solidFill>
                  <a:srgbClr val="1B00C0"/>
                </a:solidFill>
              </a:rPr>
              <a:t>故画</a:t>
            </a:r>
            <a:r>
              <a:rPr lang="zh-CN" altLang="en-US" sz="2800" dirty="0">
                <a:solidFill>
                  <a:srgbClr val="1B00C0"/>
                </a:solidFill>
              </a:rPr>
              <a:t>二维图形时</a:t>
            </a:r>
            <a:r>
              <a:rPr lang="en-US" altLang="zh-CN" sz="2800" dirty="0">
                <a:solidFill>
                  <a:srgbClr val="1B00C0"/>
                </a:solidFill>
              </a:rPr>
              <a:t>,</a:t>
            </a:r>
            <a:r>
              <a:rPr lang="zh-CN" altLang="en-US" sz="2800" dirty="0">
                <a:solidFill>
                  <a:srgbClr val="1B00C0"/>
                </a:solidFill>
              </a:rPr>
              <a:t>只要</a:t>
            </a:r>
            <a:r>
              <a:rPr lang="zh-CN" altLang="en-US" sz="2800" dirty="0" smtClean="0">
                <a:solidFill>
                  <a:srgbClr val="1B00C0"/>
                </a:solidFill>
              </a:rPr>
              <a:t>计算对角度</a:t>
            </a:r>
            <a:r>
              <a:rPr lang="en-US" altLang="zh-CN" sz="2800" dirty="0" smtClean="0">
                <a:solidFill>
                  <a:srgbClr val="1B00C0"/>
                </a:solidFill>
              </a:rPr>
              <a:t>d</a:t>
            </a:r>
            <a:r>
              <a:rPr lang="el-GR" altLang="zh-CN" sz="2800" dirty="0" smtClean="0">
                <a:solidFill>
                  <a:srgbClr val="1B00C0"/>
                </a:solidFill>
              </a:rPr>
              <a:t>φ</a:t>
            </a:r>
            <a:r>
              <a:rPr lang="zh-CN" altLang="en-US" sz="2800" dirty="0" smtClean="0">
                <a:solidFill>
                  <a:srgbClr val="1B00C0"/>
                </a:solidFill>
              </a:rPr>
              <a:t>的积分</a:t>
            </a:r>
            <a:endParaRPr lang="zh-CN" altLang="en-US" sz="2800" dirty="0">
              <a:solidFill>
                <a:srgbClr val="1B00C0"/>
              </a:solidFill>
            </a:endParaRPr>
          </a:p>
        </p:txBody>
      </p:sp>
      <p:sp>
        <p:nvSpPr>
          <p:cNvPr id="7" name="页脚占位符 3"/>
          <p:cNvSpPr txBox="1"/>
          <p:nvPr/>
        </p:nvSpPr>
        <p:spPr>
          <a:xfrm>
            <a:off x="2771800" y="6387985"/>
            <a:ext cx="374441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§3.4  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环形电流的磁场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924944"/>
            <a:ext cx="6872820" cy="3331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35602" y="1524561"/>
                <a:ext cx="7200800" cy="1400383"/>
              </a:xfrm>
              <a:prstGeom prst="rect">
                <a:avLst/>
              </a:prstGeom>
            </p:spPr>
            <p:txBody>
              <a:bodyPr wrap="square" anchor="ctr" anchorCtr="0">
                <a:spAutoFit/>
              </a:bodyPr>
              <a:lstStyle/>
              <a:p>
                <a:pPr lvl="0" eaLnBrk="1" fontAlgn="auto" hangingPunct="1">
                  <a:lnSpc>
                    <a:spcPts val="3000"/>
                  </a:lnSpc>
                  <a:spcBef>
                    <a:spcPts val="645"/>
                  </a:spcBef>
                  <a:spcAft>
                    <a:spcPts val="0"/>
                  </a:spcAft>
                  <a:buClr>
                    <a:srgbClr val="FEB80A"/>
                  </a:buClr>
                  <a:buSzPct val="60000"/>
                </a:pPr>
                <a:endParaRPr lang="en-US" altLang="zh-CN" sz="2800" dirty="0" smtClean="0">
                  <a:solidFill>
                    <a:srgbClr val="7030A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0" eaLnBrk="1" fontAlgn="auto" hangingPunct="1">
                  <a:lnSpc>
                    <a:spcPts val="3000"/>
                  </a:lnSpc>
                  <a:spcBef>
                    <a:spcPts val="645"/>
                  </a:spcBef>
                  <a:spcAft>
                    <a:spcPts val="0"/>
                  </a:spcAft>
                  <a:buClr>
                    <a:srgbClr val="FEB80A"/>
                  </a:buClr>
                  <a:buSzPct val="60000"/>
                </a:pPr>
                <a:r>
                  <a:rPr lang="zh-CN" altLang="en-US" sz="2800" dirty="0" smtClean="0">
                    <a:solidFill>
                      <a:srgbClr val="7030A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注：用</a:t>
                </a:r>
                <a:r>
                  <a:rPr lang="en-US" altLang="zh-CN" sz="2800" dirty="0">
                    <a:solidFill>
                      <a:srgbClr val="7030A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《</a:t>
                </a:r>
                <a:r>
                  <a:rPr lang="zh-CN" altLang="en-US" sz="2800" dirty="0">
                    <a:solidFill>
                      <a:srgbClr val="7030A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程序界面</a:t>
                </a:r>
                <a:r>
                  <a:rPr lang="en-US" altLang="zh-CN" sz="2800" dirty="0">
                    <a:solidFill>
                      <a:srgbClr val="7030A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》</a:t>
                </a:r>
                <a:r>
                  <a:rPr lang="zh-CN" altLang="en-US" sz="2800" dirty="0">
                    <a:solidFill>
                      <a:srgbClr val="7030A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演示，省略了常数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800" i="1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7030A0"/>
                                </a:solidFill>
                                <a:latin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zh-CN" altLang="en-US" sz="2800">
                                <a:solidFill>
                                  <a:srgbClr val="7030A0"/>
                                </a:solidFill>
                                <a:latin typeface="Cambria Math" panose="02040503050406030204"/>
                              </a:rPr>
                              <m:t>𝜇</m:t>
                            </m:r>
                          </m:e>
                          <m:sub>
                            <m:r>
                              <a:rPr lang="zh-CN" altLang="en-US" sz="2800">
                                <a:solidFill>
                                  <a:srgbClr val="7030A0"/>
                                </a:solidFill>
                                <a:latin typeface="Cambria Math" panose="02040503050406030204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800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𝜆</m:t>
                        </m:r>
                      </m:num>
                      <m:den>
                        <m:r>
                          <a:rPr lang="zh-CN" altLang="en-US" sz="2800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rgbClr val="7030A0"/>
                            </a:solidFill>
                            <a:latin typeface="Cambria Math" panose="02040503050406030204"/>
                          </a:rPr>
                          <m:t>π</m:t>
                        </m:r>
                      </m:den>
                    </m:f>
                    <m:r>
                      <a:rPr lang="zh-CN" altLang="en-US" sz="2800">
                        <a:solidFill>
                          <a:srgbClr val="7030A0"/>
                        </a:solidFill>
                        <a:latin typeface="Cambria Math" panose="02040503050406030204"/>
                      </a:rPr>
                      <m:t>。</m:t>
                    </m:r>
                  </m:oMath>
                </a14:m>
                <a:endParaRPr lang="en-US" altLang="zh-CN" sz="2800" dirty="0" smtClean="0">
                  <a:solidFill>
                    <a:srgbClr val="7030A0"/>
                  </a:solidFill>
                  <a:latin typeface="楷体" panose="02010609060101010101" pitchFamily="49" charset="-122"/>
                </a:endParaRPr>
              </a:p>
              <a:p>
                <a:pPr lvl="0" eaLnBrk="1" fontAlgn="auto" hangingPunct="1">
                  <a:lnSpc>
                    <a:spcPts val="3000"/>
                  </a:lnSpc>
                  <a:spcBef>
                    <a:spcPts val="645"/>
                  </a:spcBef>
                  <a:spcAft>
                    <a:spcPts val="0"/>
                  </a:spcAft>
                  <a:buClr>
                    <a:srgbClr val="FEB80A"/>
                  </a:buClr>
                  <a:buSzPct val="60000"/>
                </a:pPr>
                <a:endParaRPr lang="en-US" altLang="zh-CN" sz="2800" dirty="0">
                  <a:solidFill>
                    <a:srgbClr val="7030A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02" y="1524561"/>
                <a:ext cx="7200800" cy="1400383"/>
              </a:xfrm>
              <a:prstGeom prst="rect">
                <a:avLst/>
              </a:prstGeom>
              <a:blipFill rotWithShape="1">
                <a:blip r:embed="rId6"/>
                <a:stretch>
                  <a:fillRect l="-4" t="-40" r="2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§3.1.1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8DA490-ED8E-4C67-B7BA-D30E019A5610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7504" y="0"/>
            <a:ext cx="6750496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clear all</a:t>
            </a:r>
          </a:p>
          <a:p>
            <a:r>
              <a:rPr lang="en-US" altLang="zh-CN" sz="2400" dirty="0"/>
              <a:t>%</a:t>
            </a:r>
            <a:r>
              <a:rPr lang="zh-CN" altLang="en-US" sz="2400" dirty="0"/>
              <a:t>环形电流磁场的分布</a:t>
            </a:r>
          </a:p>
          <a:p>
            <a:r>
              <a:rPr lang="en-US" altLang="zh-CN" sz="2400" dirty="0"/>
              <a:t>a=0.35; the=0:pi/20:2*pi;</a:t>
            </a:r>
          </a:p>
          <a:p>
            <a:r>
              <a:rPr lang="en-US" altLang="zh-CN" sz="2400" dirty="0"/>
              <a:t>y=-1:0.04:1;z=-1:0.04:1;</a:t>
            </a:r>
          </a:p>
          <a:p>
            <a:r>
              <a:rPr lang="en-US" altLang="zh-CN" sz="2400" dirty="0"/>
              <a:t>[Y,Z,T]=</a:t>
            </a:r>
            <a:r>
              <a:rPr lang="en-US" altLang="zh-CN" sz="2400" dirty="0" err="1"/>
              <a:t>meshgrid</a:t>
            </a:r>
            <a:r>
              <a:rPr lang="en-US" altLang="zh-CN" sz="2400" dirty="0"/>
              <a:t>(</a:t>
            </a:r>
            <a:r>
              <a:rPr lang="en-US" altLang="zh-CN" sz="2400" dirty="0" err="1"/>
              <a:t>y,z,the</a:t>
            </a:r>
            <a:r>
              <a:rPr lang="en-US" altLang="zh-CN" sz="2400" dirty="0"/>
              <a:t>);</a:t>
            </a:r>
          </a:p>
          <a:p>
            <a:r>
              <a:rPr lang="es-ES" altLang="zh-CN" sz="2400" dirty="0"/>
              <a:t>r=sqrt(a*cos(T).^2+(Y-a*sin(T)).^2+Z.^2);</a:t>
            </a:r>
          </a:p>
          <a:p>
            <a:r>
              <a:rPr lang="en-US" altLang="zh-CN" sz="2400" dirty="0"/>
              <a:t>r3=r.^3;</a:t>
            </a:r>
          </a:p>
          <a:p>
            <a:r>
              <a:rPr lang="en-US" altLang="zh-CN" sz="2400" dirty="0" err="1"/>
              <a:t>dby</a:t>
            </a:r>
            <a:r>
              <a:rPr lang="en-US" altLang="zh-CN" sz="2400" dirty="0"/>
              <a:t>=a*Z.*sin(T)./r3;    by=pi/40*</a:t>
            </a:r>
            <a:r>
              <a:rPr lang="en-US" altLang="zh-CN" sz="2400" dirty="0" err="1"/>
              <a:t>trapz</a:t>
            </a:r>
            <a:r>
              <a:rPr lang="en-US" altLang="zh-CN" sz="2400" dirty="0"/>
              <a:t>(dby,3);</a:t>
            </a:r>
          </a:p>
          <a:p>
            <a:r>
              <a:rPr lang="en-US" altLang="zh-CN" sz="2400" dirty="0" err="1"/>
              <a:t>dbz</a:t>
            </a:r>
            <a:r>
              <a:rPr lang="en-US" altLang="zh-CN" sz="2400" dirty="0"/>
              <a:t>=a*(a-Y.*sin(T))./r3;bz=pi/40*</a:t>
            </a:r>
            <a:r>
              <a:rPr lang="en-US" altLang="zh-CN" sz="2400" dirty="0" err="1"/>
              <a:t>trapz</a:t>
            </a:r>
            <a:r>
              <a:rPr lang="en-US" altLang="zh-CN" sz="2400" dirty="0"/>
              <a:t>(dbz,3);</a:t>
            </a:r>
          </a:p>
          <a:p>
            <a:r>
              <a:rPr lang="en-US" altLang="zh-CN" sz="2400" dirty="0"/>
              <a:t>figure(1</a:t>
            </a:r>
            <a:r>
              <a:rPr lang="en-US" altLang="zh-CN" sz="2400" dirty="0" smtClean="0"/>
              <a:t>)</a:t>
            </a:r>
          </a:p>
          <a:p>
            <a:r>
              <a:rPr lang="en-US" altLang="zh-CN" sz="2400" dirty="0"/>
              <a:t>[</a:t>
            </a:r>
            <a:r>
              <a:rPr lang="en-US" altLang="zh-CN" sz="2400" dirty="0" err="1"/>
              <a:t>bSY,bSZ</a:t>
            </a:r>
            <a:r>
              <a:rPr lang="en-US" altLang="zh-CN" sz="2400" dirty="0"/>
              <a:t>]=</a:t>
            </a:r>
            <a:r>
              <a:rPr lang="en-US" altLang="zh-CN" sz="2400" dirty="0" err="1"/>
              <a:t>meshgrid</a:t>
            </a:r>
            <a:r>
              <a:rPr lang="en-US" altLang="zh-CN" sz="2400" dirty="0"/>
              <a:t>([0:0.05:0.2],0);</a:t>
            </a:r>
          </a:p>
          <a:p>
            <a:r>
              <a:rPr lang="pl-PL" altLang="zh-CN" sz="2400" dirty="0"/>
              <a:t>h1=streamline(Y(:,:,1),Z(:,:,1),by,bz,bSY,bSZ,[0.1,1000]);</a:t>
            </a:r>
          </a:p>
          <a:p>
            <a:r>
              <a:rPr lang="en-US" altLang="zh-CN" sz="2400" dirty="0"/>
              <a:t>h2=</a:t>
            </a:r>
            <a:r>
              <a:rPr lang="en-US" altLang="zh-CN" sz="2400" dirty="0" err="1"/>
              <a:t>copyobj</a:t>
            </a:r>
            <a:r>
              <a:rPr lang="en-US" altLang="zh-CN" sz="2400" dirty="0"/>
              <a:t>(h1,gca);</a:t>
            </a:r>
          </a:p>
          <a:p>
            <a:r>
              <a:rPr lang="en-US" altLang="zh-CN" sz="2400" dirty="0"/>
              <a:t>rotate(h2,[1,0,0],180,[0,0,0]);</a:t>
            </a:r>
          </a:p>
          <a:p>
            <a:r>
              <a:rPr lang="en-US" altLang="zh-CN" sz="2400" dirty="0"/>
              <a:t>h3=</a:t>
            </a:r>
            <a:r>
              <a:rPr lang="en-US" altLang="zh-CN" sz="2400" dirty="0" err="1"/>
              <a:t>copyobj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allchild</a:t>
            </a:r>
            <a:r>
              <a:rPr lang="en-US" altLang="zh-CN" sz="2400" dirty="0"/>
              <a:t>(</a:t>
            </a:r>
            <a:r>
              <a:rPr lang="en-US" altLang="zh-CN" sz="2400" dirty="0" err="1"/>
              <a:t>gca</a:t>
            </a:r>
            <a:r>
              <a:rPr lang="en-US" altLang="zh-CN" sz="2400" dirty="0"/>
              <a:t>),</a:t>
            </a:r>
            <a:r>
              <a:rPr lang="en-US" altLang="zh-CN" sz="2400" dirty="0" err="1"/>
              <a:t>gca</a:t>
            </a:r>
            <a:r>
              <a:rPr lang="en-US" altLang="zh-CN" sz="2400" dirty="0"/>
              <a:t>);</a:t>
            </a:r>
          </a:p>
          <a:p>
            <a:r>
              <a:rPr lang="en-US" altLang="zh-CN" sz="2400" dirty="0"/>
              <a:t>rotate(h3,[0,1,0],180,[0,0,0]);</a:t>
            </a:r>
          </a:p>
          <a:p>
            <a:r>
              <a:rPr lang="en-US" altLang="zh-CN" sz="2400" dirty="0"/>
              <a:t>title('</a:t>
            </a:r>
            <a:r>
              <a:rPr lang="zh-CN" altLang="en-US" sz="2400" dirty="0"/>
              <a:t>磁场的二维图</a:t>
            </a:r>
            <a:r>
              <a:rPr lang="en-US" altLang="zh-CN" sz="2400" dirty="0"/>
              <a:t>','fontsize',15);</a:t>
            </a:r>
          </a:p>
          <a:p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§3.1.1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8DA490-ED8E-4C67-B7BA-D30E019A5610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1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for </a:t>
            </a:r>
            <a:r>
              <a:rPr lang="en-US" altLang="zh-CN" sz="2400" dirty="0" err="1"/>
              <a:t>kk</a:t>
            </a:r>
            <a:r>
              <a:rPr lang="en-US" altLang="zh-CN" sz="2400" dirty="0"/>
              <a:t>=1:4</a:t>
            </a:r>
          </a:p>
          <a:p>
            <a:r>
              <a:rPr lang="en-US" altLang="zh-CN" sz="2400" dirty="0"/>
              <a:t>    [</a:t>
            </a:r>
            <a:r>
              <a:rPr lang="en-US" altLang="zh-CN" sz="2400" dirty="0" err="1"/>
              <a:t>bSY,bSZ</a:t>
            </a:r>
            <a:r>
              <a:rPr lang="en-US" altLang="zh-CN" sz="2400" dirty="0"/>
              <a:t>]=</a:t>
            </a:r>
            <a:r>
              <a:rPr lang="en-US" altLang="zh-CN" sz="2400" dirty="0" err="1"/>
              <a:t>meshgrid</a:t>
            </a:r>
            <a:r>
              <a:rPr lang="en-US" altLang="zh-CN" sz="2400" dirty="0"/>
              <a:t>(0.2+kk*0.2,0);</a:t>
            </a:r>
          </a:p>
          <a:p>
            <a:r>
              <a:rPr lang="pl-PL" altLang="zh-CN" sz="2400" dirty="0"/>
              <a:t>    streamline(Y(:,:,1),Z(:,:,1),by,bz,bSY,bSZ,[0.02/(kk+1),4500]);</a:t>
            </a:r>
          </a:p>
          <a:p>
            <a:r>
              <a:rPr lang="pl-PL" altLang="zh-CN" sz="2400" dirty="0"/>
              <a:t>    streamline(-Y(:,:,1),Z(:,:,1),-by,bz,-bSY,bSZ,[0.02/(kk+1),4500]);</a:t>
            </a:r>
          </a:p>
          <a:p>
            <a:r>
              <a:rPr lang="en-US" altLang="zh-CN" sz="2400" dirty="0"/>
              <a:t>end</a:t>
            </a:r>
          </a:p>
          <a:p>
            <a:r>
              <a:rPr lang="en-US" altLang="zh-CN" sz="2400" dirty="0"/>
              <a:t>%</a:t>
            </a:r>
            <a:r>
              <a:rPr lang="zh-CN" altLang="en-US" sz="2400" dirty="0"/>
              <a:t>以下画三维图形</a:t>
            </a:r>
          </a:p>
          <a:p>
            <a:r>
              <a:rPr lang="en-US" altLang="zh-CN" sz="2400" dirty="0"/>
              <a:t>[X,Y,Z]=</a:t>
            </a:r>
            <a:r>
              <a:rPr lang="en-US" altLang="zh-CN" sz="2400" dirty="0" err="1"/>
              <a:t>meshgrid</a:t>
            </a:r>
            <a:r>
              <a:rPr lang="en-US" altLang="zh-CN" sz="2400" dirty="0"/>
              <a:t>(-0.5:0.04:0.5);</a:t>
            </a:r>
          </a:p>
          <a:p>
            <a:r>
              <a:rPr lang="en-US" altLang="zh-CN" sz="2400" dirty="0"/>
              <a:t>r2=X.^2+Y.^2+Z.^2;</a:t>
            </a:r>
          </a:p>
          <a:p>
            <a:r>
              <a:rPr lang="en-US" altLang="zh-CN" sz="2400" dirty="0"/>
              <a:t>for k=1:81</a:t>
            </a:r>
          </a:p>
          <a:p>
            <a:r>
              <a:rPr lang="en-US" altLang="zh-CN" sz="2400" dirty="0"/>
              <a:t>    phi=pi/40*(k-1);</a:t>
            </a:r>
            <a:r>
              <a:rPr lang="en-US" altLang="zh-CN" sz="2400" dirty="0" err="1"/>
              <a:t>costh</a:t>
            </a:r>
            <a:r>
              <a:rPr lang="en-US" altLang="zh-CN" sz="2400" dirty="0"/>
              <a:t>=cos(phi);</a:t>
            </a:r>
            <a:r>
              <a:rPr lang="en-US" altLang="zh-CN" sz="2400" dirty="0" err="1"/>
              <a:t>sinth</a:t>
            </a:r>
            <a:r>
              <a:rPr lang="en-US" altLang="zh-CN" sz="2400" dirty="0"/>
              <a:t>=sin(phi);</a:t>
            </a:r>
          </a:p>
          <a:p>
            <a:r>
              <a:rPr lang="en-US" altLang="zh-CN" sz="2400" dirty="0"/>
              <a:t>    R3=(r2+a^2-2*a*(X*</a:t>
            </a:r>
            <a:r>
              <a:rPr lang="en-US" altLang="zh-CN" sz="2400" dirty="0" err="1"/>
              <a:t>costh+Y</a:t>
            </a:r>
            <a:r>
              <a:rPr lang="en-US" altLang="zh-CN" sz="2400" dirty="0"/>
              <a:t>*</a:t>
            </a:r>
            <a:r>
              <a:rPr lang="en-US" altLang="zh-CN" sz="2400" dirty="0" err="1"/>
              <a:t>sinth</a:t>
            </a:r>
            <a:r>
              <a:rPr lang="en-US" altLang="zh-CN" sz="2400" dirty="0"/>
              <a:t>)).^(3/2);</a:t>
            </a:r>
          </a:p>
          <a:p>
            <a:r>
              <a:rPr lang="en-US" altLang="zh-CN" sz="2400" dirty="0"/>
              <a:t>    Bx0(:,:,:,k)=a*Z*</a:t>
            </a:r>
            <a:r>
              <a:rPr lang="en-US" altLang="zh-CN" sz="2400" dirty="0" err="1"/>
              <a:t>costh</a:t>
            </a:r>
            <a:r>
              <a:rPr lang="en-US" altLang="zh-CN" sz="2400" dirty="0"/>
              <a:t>./R3;</a:t>
            </a:r>
          </a:p>
          <a:p>
            <a:r>
              <a:rPr lang="en-US" altLang="zh-CN" sz="2400" dirty="0"/>
              <a:t>    By0(:,:,:,k)=a*Z*</a:t>
            </a:r>
            <a:r>
              <a:rPr lang="en-US" altLang="zh-CN" sz="2400" dirty="0" err="1"/>
              <a:t>sinth</a:t>
            </a:r>
            <a:r>
              <a:rPr lang="en-US" altLang="zh-CN" sz="2400" dirty="0"/>
              <a:t>./R3;</a:t>
            </a:r>
          </a:p>
          <a:p>
            <a:r>
              <a:rPr lang="en-US" altLang="zh-CN" sz="2400" dirty="0"/>
              <a:t>    Bz0(:,:,:,k)=a*(a-X*</a:t>
            </a:r>
            <a:r>
              <a:rPr lang="en-US" altLang="zh-CN" sz="2400" dirty="0" err="1"/>
              <a:t>costh</a:t>
            </a:r>
            <a:r>
              <a:rPr lang="en-US" altLang="zh-CN" sz="2400" dirty="0"/>
              <a:t>-Y*</a:t>
            </a:r>
            <a:r>
              <a:rPr lang="en-US" altLang="zh-CN" sz="2400" dirty="0" err="1"/>
              <a:t>sinth</a:t>
            </a:r>
            <a:r>
              <a:rPr lang="en-US" altLang="zh-CN" sz="2400" dirty="0"/>
              <a:t>)./R3;</a:t>
            </a:r>
          </a:p>
          <a:p>
            <a:r>
              <a:rPr lang="en-US" altLang="zh-CN" sz="2400" dirty="0"/>
              <a:t>end</a:t>
            </a:r>
          </a:p>
          <a:p>
            <a:r>
              <a:rPr lang="en-US" altLang="zh-CN" sz="2400" dirty="0" err="1"/>
              <a:t>Bx</a:t>
            </a:r>
            <a:r>
              <a:rPr lang="en-US" altLang="zh-CN" sz="2400" dirty="0"/>
              <a:t>=pi/40*</a:t>
            </a:r>
            <a:r>
              <a:rPr lang="en-US" altLang="zh-CN" sz="2400" dirty="0" err="1"/>
              <a:t>trapz</a:t>
            </a:r>
            <a:r>
              <a:rPr lang="en-US" altLang="zh-CN" sz="2400" dirty="0"/>
              <a:t>(Bx0,4);</a:t>
            </a:r>
          </a:p>
          <a:p>
            <a:r>
              <a:rPr lang="en-US" altLang="zh-CN" sz="2400" dirty="0"/>
              <a:t>By=pi/40*</a:t>
            </a:r>
            <a:r>
              <a:rPr lang="en-US" altLang="zh-CN" sz="2400" dirty="0" err="1"/>
              <a:t>trapz</a:t>
            </a:r>
            <a:r>
              <a:rPr lang="en-US" altLang="zh-CN" sz="2400" dirty="0"/>
              <a:t>(By0,4);</a:t>
            </a:r>
          </a:p>
          <a:p>
            <a:r>
              <a:rPr lang="en-US" altLang="zh-CN" sz="2400" dirty="0" err="1"/>
              <a:t>Bz</a:t>
            </a:r>
            <a:r>
              <a:rPr lang="en-US" altLang="zh-CN" sz="2400" dirty="0"/>
              <a:t>=pi/40*</a:t>
            </a:r>
            <a:r>
              <a:rPr lang="en-US" altLang="zh-CN" sz="2400" dirty="0" err="1"/>
              <a:t>trapz</a:t>
            </a:r>
            <a:r>
              <a:rPr lang="en-US" altLang="zh-CN" sz="2400" dirty="0"/>
              <a:t>(Bz0,4</a:t>
            </a:r>
            <a:r>
              <a:rPr lang="en-US" altLang="zh-CN" sz="2400" dirty="0" smtClean="0"/>
              <a:t>);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§3.1.1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8DA490-ED8E-4C67-B7BA-D30E019A5610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7504" y="0"/>
            <a:ext cx="675049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figure(2)</a:t>
            </a:r>
          </a:p>
          <a:p>
            <a:r>
              <a:rPr lang="en-US" altLang="zh-CN" sz="2400" dirty="0" smtClean="0"/>
              <a:t>v</a:t>
            </a:r>
            <a:r>
              <a:rPr lang="en-US" altLang="zh-CN" sz="2400" dirty="0"/>
              <a:t>=[-0.2,-0.1,0,0.1,0.2];</a:t>
            </a:r>
          </a:p>
          <a:p>
            <a:r>
              <a:rPr lang="en-US" altLang="zh-CN" sz="2400" dirty="0"/>
              <a:t>[</a:t>
            </a:r>
            <a:r>
              <a:rPr lang="en-US" altLang="zh-CN" sz="2400" dirty="0" err="1"/>
              <a:t>Vx,Vy,Vz</a:t>
            </a:r>
            <a:r>
              <a:rPr lang="en-US" altLang="zh-CN" sz="2400" dirty="0"/>
              <a:t>]=</a:t>
            </a:r>
            <a:r>
              <a:rPr lang="en-US" altLang="zh-CN" sz="2400" dirty="0" err="1"/>
              <a:t>meshgrid</a:t>
            </a:r>
            <a:r>
              <a:rPr lang="en-US" altLang="zh-CN" sz="2400" dirty="0"/>
              <a:t>(v,v,0);</a:t>
            </a:r>
          </a:p>
          <a:p>
            <a:r>
              <a:rPr lang="en-US" altLang="zh-CN" sz="2400" dirty="0"/>
              <a:t>plot3(</a:t>
            </a:r>
            <a:r>
              <a:rPr lang="en-US" altLang="zh-CN" sz="2400" dirty="0" err="1"/>
              <a:t>Vx</a:t>
            </a:r>
            <a:r>
              <a:rPr lang="en-US" altLang="zh-CN" sz="2400" dirty="0"/>
              <a:t>(:),</a:t>
            </a:r>
            <a:r>
              <a:rPr lang="en-US" altLang="zh-CN" sz="2400" dirty="0" err="1"/>
              <a:t>Vy</a:t>
            </a:r>
            <a:r>
              <a:rPr lang="en-US" altLang="zh-CN" sz="2400" dirty="0"/>
              <a:t>(:),</a:t>
            </a:r>
            <a:r>
              <a:rPr lang="en-US" altLang="zh-CN" sz="2400" dirty="0" err="1"/>
              <a:t>Vz</a:t>
            </a:r>
            <a:r>
              <a:rPr lang="en-US" altLang="zh-CN" sz="2400" dirty="0"/>
              <a:t>(:),'r*')</a:t>
            </a:r>
          </a:p>
          <a:p>
            <a:r>
              <a:rPr lang="en-US" altLang="zh-CN" sz="2400" dirty="0"/>
              <a:t>streamline(</a:t>
            </a:r>
            <a:r>
              <a:rPr lang="en-US" altLang="zh-CN" sz="2400" dirty="0" err="1"/>
              <a:t>X,Y,Z,Bx,By,Bz,Vx,Vy,Vz</a:t>
            </a:r>
            <a:r>
              <a:rPr lang="en-US" altLang="zh-CN" sz="2400" dirty="0"/>
              <a:t>,[0.01,2000]);</a:t>
            </a:r>
          </a:p>
          <a:p>
            <a:r>
              <a:rPr lang="en-US" altLang="zh-CN" sz="2400" dirty="0"/>
              <a:t>hold on;</a:t>
            </a:r>
          </a:p>
          <a:p>
            <a:r>
              <a:rPr lang="en-US" altLang="zh-CN" sz="2400" dirty="0"/>
              <a:t>axis([-0.5,0.5,-0.5,0.5,-0.5,0.5]);</a:t>
            </a:r>
          </a:p>
          <a:p>
            <a:r>
              <a:rPr lang="en-US" altLang="zh-CN" sz="2400" dirty="0"/>
              <a:t>view(-23,26);</a:t>
            </a:r>
          </a:p>
          <a:p>
            <a:r>
              <a:rPr lang="en-US" altLang="zh-CN" sz="2400" dirty="0"/>
              <a:t>box on;</a:t>
            </a:r>
          </a:p>
          <a:p>
            <a:r>
              <a:rPr lang="en-US" altLang="zh-CN" sz="2400" dirty="0"/>
              <a:t>title('</a:t>
            </a:r>
            <a:r>
              <a:rPr lang="zh-CN" altLang="en-US" sz="2400" dirty="0"/>
              <a:t>磁场的三维图</a:t>
            </a:r>
            <a:r>
              <a:rPr lang="en-US" altLang="zh-CN" sz="2400" dirty="0"/>
              <a:t>','fontsize',15);</a:t>
            </a:r>
          </a:p>
          <a:p>
            <a:r>
              <a:rPr lang="en-US" altLang="zh-CN" sz="2400" dirty="0"/>
              <a:t>t=0:pi/100:2*pi;</a:t>
            </a:r>
          </a:p>
          <a:p>
            <a:r>
              <a:rPr lang="en-US" altLang="zh-CN" sz="2400" dirty="0"/>
              <a:t>plot(a*</a:t>
            </a:r>
            <a:r>
              <a:rPr lang="en-US" altLang="zh-CN" sz="2400" dirty="0" err="1"/>
              <a:t>exp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*t),'r-','linewidth',3);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§3.5 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分子振动的半经典量子化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0" y="1125538"/>
            <a:ext cx="533400" cy="244475"/>
          </a:xfrm>
        </p:spPr>
        <p:txBody>
          <a:bodyPr>
            <a:noAutofit/>
          </a:bodyPr>
          <a:lstStyle/>
          <a:p>
            <a:pPr>
              <a:defRPr/>
            </a:pPr>
            <a:fld id="{0B393A43-B799-4B4F-81D6-DA39A8AFEFEB}" type="slidenum">
              <a:rPr lang="zh-CN" altLang="en-US" smtClean="0">
                <a:solidFill>
                  <a:schemeClr val="bg1"/>
                </a:solidFill>
              </a:rPr>
              <a:t>29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758069"/>
            <a:ext cx="3503255" cy="331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33400" y="1996399"/>
                <a:ext cx="4364272" cy="77027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势能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/>
                      </a:rPr>
                      <m:t> 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)=4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sz="2400" i="1">
                            <a:latin typeface="Cambria Math" panose="02040503050406030204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996399"/>
                <a:ext cx="4364272" cy="770275"/>
              </a:xfrm>
              <a:prstGeom prst="rect">
                <a:avLst/>
              </a:prstGeom>
              <a:blipFill rotWithShape="1">
                <a:blip r:embed="rId3"/>
                <a:stretch>
                  <a:fillRect l="-218" t="-1314" r="-206" b="-1157"/>
                </a:stretch>
              </a:blip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89301" y="3176083"/>
                <a:ext cx="4104456" cy="103772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zh-CN" altLang="en-US" sz="240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系统总能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：约化质量</a:t>
                </a:r>
                <a:endPara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01" y="3176083"/>
                <a:ext cx="4104456" cy="1037720"/>
              </a:xfrm>
              <a:prstGeom prst="rect">
                <a:avLst/>
              </a:prstGeom>
              <a:blipFill rotWithShape="1">
                <a:blip r:embed="rId4"/>
                <a:stretch>
                  <a:fillRect l="-241" t="-961" r="-228" b="-862"/>
                </a:stretch>
              </a:blip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644555" y="4883158"/>
                <a:ext cx="4034438" cy="48468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)=±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d>
                        </m:e>
                        <m:sup>
                          <m:f>
                            <m:fPr>
                              <m:type m:val="lin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55" y="4883158"/>
                <a:ext cx="4034438" cy="484684"/>
              </a:xfrm>
              <a:prstGeom prst="rect">
                <a:avLst/>
              </a:prstGeom>
              <a:blipFill rotWithShape="1">
                <a:blip r:embed="rId5"/>
                <a:stretch>
                  <a:fillRect l="-237" t="-1967" r="-228" b="-1927"/>
                </a:stretch>
              </a:blip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624154" y="5550306"/>
                <a:ext cx="396960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zh-CN" altLang="en-US" sz="2400" dirty="0" smtClean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能量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1B00C0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sz="2400" dirty="0" smtClean="0">
                    <a:solidFill>
                      <a:srgbClr val="1B0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给定后，这是在相空间的闭合轨道。</a:t>
                </a:r>
                <a:endParaRPr lang="en-US" altLang="zh-CN" sz="2400" dirty="0">
                  <a:solidFill>
                    <a:srgbClr val="1B00C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54" y="5550306"/>
                <a:ext cx="3969603" cy="830997"/>
              </a:xfrm>
              <a:prstGeom prst="rect">
                <a:avLst/>
              </a:prstGeom>
              <a:blipFill rotWithShape="1">
                <a:blip r:embed="rId6"/>
                <a:stretch>
                  <a:fillRect l="-15" t="-49" r="4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页脚占位符 3"/>
          <p:cNvSpPr txBox="1"/>
          <p:nvPr/>
        </p:nvSpPr>
        <p:spPr>
          <a:xfrm>
            <a:off x="2771800" y="6387985"/>
            <a:ext cx="374441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  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分子振动的半经典量子化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24602" y="1442000"/>
            <a:ext cx="82947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smtClean="0">
                <a:latin typeface="Cambria Math" panose="02040503050406030204" pitchFamily="18" charset="0"/>
                <a:ea typeface="楷体" panose="02010609060101010101" pitchFamily="49" charset="-122"/>
              </a:rPr>
              <a:t>用</a:t>
            </a:r>
            <a:r>
              <a:rPr lang="zh-CN" altLang="en-US" sz="2800" dirty="0">
                <a:latin typeface="Cambria Math" panose="02040503050406030204" pitchFamily="18" charset="0"/>
                <a:ea typeface="楷体" panose="02010609060101010101" pitchFamily="49" charset="-122"/>
              </a:rPr>
              <a:t>玻尔</a:t>
            </a:r>
            <a:r>
              <a:rPr lang="zh-CN" altLang="en-US" sz="2800" dirty="0" smtClean="0">
                <a:latin typeface="Cambria Math" panose="02040503050406030204" pitchFamily="18" charset="0"/>
                <a:ea typeface="楷体" panose="02010609060101010101" pitchFamily="49" charset="-122"/>
              </a:rPr>
              <a:t>“量子化法则”求</a:t>
            </a:r>
            <a:r>
              <a:rPr lang="zh-CN" altLang="en-US" sz="2800" dirty="0">
                <a:latin typeface="Cambria Math" panose="02040503050406030204" pitchFamily="18" charset="0"/>
                <a:ea typeface="楷体" panose="02010609060101010101" pitchFamily="49" charset="-122"/>
              </a:rPr>
              <a:t>量子化的</a:t>
            </a:r>
            <a:r>
              <a:rPr lang="zh-CN" altLang="en-US" sz="2800">
                <a:latin typeface="Cambria Math" panose="02040503050406030204" pitchFamily="18" charset="0"/>
                <a:ea typeface="楷体" panose="02010609060101010101" pitchFamily="49" charset="-122"/>
              </a:rPr>
              <a:t>振动</a:t>
            </a:r>
            <a:r>
              <a:rPr lang="zh-CN" altLang="en-US" sz="2800" smtClean="0">
                <a:latin typeface="Cambria Math" panose="02040503050406030204" pitchFamily="18" charset="0"/>
                <a:ea typeface="楷体" panose="02010609060101010101" pitchFamily="49" charset="-122"/>
              </a:rPr>
              <a:t>能量</a:t>
            </a:r>
            <a:endParaRPr lang="zh-CN" altLang="en-US" sz="2800" dirty="0">
              <a:latin typeface="Cambria Math" panose="02040503050406030204" pitchFamily="18" charset="0"/>
              <a:ea typeface="楷体" panose="02010609060101010101" pitchFamily="49" charset="-122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2404843" y="4253875"/>
            <a:ext cx="686420" cy="640927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  <a:tileRect/>
          </a:gradFill>
        </p:spPr>
        <p:txBody>
          <a:bodyPr rtlCol="0" anchor="ctr">
            <a:spAutoFit/>
          </a:bodyPr>
          <a:lstStyle/>
          <a:p>
            <a:pPr algn="ctr"/>
            <a:endParaRPr lang="zh-CN" altLang="en-US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下箭头 16"/>
          <p:cNvSpPr/>
          <p:nvPr/>
        </p:nvSpPr>
        <p:spPr>
          <a:xfrm rot="16200000">
            <a:off x="4700714" y="4219483"/>
            <a:ext cx="686420" cy="640927"/>
          </a:xfrm>
          <a:prstGeom prst="down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  <a:tileRect/>
          </a:gradFill>
        </p:spPr>
        <p:txBody>
          <a:bodyPr rtlCol="0" anchor="ctr">
            <a:spAutoFit/>
          </a:bodyPr>
          <a:lstStyle/>
          <a:p>
            <a:pPr algn="ctr"/>
            <a:endParaRPr lang="zh-CN" altLang="en-US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加号 2"/>
          <p:cNvSpPr/>
          <p:nvPr/>
        </p:nvSpPr>
        <p:spPr>
          <a:xfrm>
            <a:off x="2404843" y="2766674"/>
            <a:ext cx="510973" cy="409409"/>
          </a:xfrm>
          <a:prstGeom prst="mathPlus">
            <a:avLst>
              <a:gd name="adj1" fmla="val 36657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7200000" scaled="0"/>
            <a:tileRect/>
          </a:gradFill>
        </p:spPr>
        <p:txBody>
          <a:bodyPr rtlCol="0" anchor="ctr">
            <a:spAutoFit/>
          </a:bodyPr>
          <a:lstStyle/>
          <a:p>
            <a:pPr algn="ctr"/>
            <a:endParaRPr lang="zh-CN" altLang="en-US" sz="2400" kern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9392"/>
            <a:ext cx="9144000" cy="6957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20472" y="37114"/>
            <a:ext cx="432048" cy="511566"/>
          </a:xfrm>
        </p:spPr>
        <p:txBody>
          <a:bodyPr vert="horz">
            <a:noAutofit/>
          </a:bodyPr>
          <a:lstStyle/>
          <a:p>
            <a:pPr>
              <a:defRPr/>
            </a:pPr>
            <a:fld id="{3E8DA490-ED8E-4C67-B7BA-D30E019A5610}" type="slidenum">
              <a:rPr lang="zh-CN" altLang="en-US" b="1" smtClean="0"/>
              <a:t>31</a:t>
            </a:fld>
            <a:endParaRPr lang="zh-CN" altLang="en-US" b="1" dirty="0"/>
          </a:p>
        </p:txBody>
      </p:sp>
      <p:sp>
        <p:nvSpPr>
          <p:cNvPr id="40" name="矩形 39"/>
          <p:cNvSpPr/>
          <p:nvPr/>
        </p:nvSpPr>
        <p:spPr>
          <a:xfrm>
            <a:off x="29662" y="100194"/>
            <a:ext cx="30243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rgbClr val="0070C0"/>
              </a:buClr>
              <a:buSzPct val="100000"/>
            </a:pPr>
            <a:r>
              <a:rPr lang="zh-CN" altLang="en-US" sz="2800" dirty="0" smtClean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数值解法</a:t>
            </a:r>
            <a:r>
              <a:rPr lang="zh-CN" altLang="en-US" sz="2800" dirty="0">
                <a:solidFill>
                  <a:srgbClr val="1B0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800" dirty="0">
              <a:solidFill>
                <a:srgbClr val="1B0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364088" y="5832854"/>
            <a:ext cx="36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注：用</a:t>
            </a:r>
            <a:r>
              <a:rPr lang="en-US" altLang="zh-CN" sz="24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《</a:t>
            </a:r>
            <a:r>
              <a:rPr lang="zh-CN" altLang="en-US" sz="24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程序界面</a:t>
            </a:r>
            <a:r>
              <a:rPr lang="en-US" altLang="zh-CN" sz="24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》</a:t>
            </a:r>
            <a:r>
              <a:rPr lang="zh-CN" altLang="en-US" sz="24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演示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596"/>
              <p:cNvSpPr/>
              <p:nvPr/>
            </p:nvSpPr>
            <p:spPr>
              <a:xfrm>
                <a:off x="7107903" y="2492745"/>
                <a:ext cx="1751821" cy="2010064"/>
              </a:xfrm>
              <a:prstGeom prst="rect">
                <a:avLst/>
              </a:prstGeom>
              <a:ln>
                <a:solidFill>
                  <a:srgbClr val="1B0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noAutofit/>
              </a:bodyPr>
              <a:lstStyle/>
              <a:p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如果不等，稍稍增加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/>
                        <a:ea typeface="楷体" panose="02010609060101010101" pitchFamily="49" charset="-122"/>
                      </a:rPr>
                      <m:t>𝜀</m:t>
                    </m:r>
                    <m:r>
                      <a:rPr lang="en-US" altLang="zh-CN" sz="2400" baseline="-25000" dirty="0">
                        <a:latin typeface="Cambria Math" panose="02040503050406030204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40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值再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算</a:t>
                </a:r>
                <a:r>
                  <a:rPr lang="zh-CN" altLang="en-US" sz="240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找</a:t>
                </a:r>
                <a:r>
                  <a:rPr lang="zh-CN" altLang="en-US" sz="240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方程为零的解</a:t>
                </a:r>
                <a:r>
                  <a:rPr lang="zh-CN" altLang="en-US" sz="2400" dirty="0" smtClean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矩形 5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903" y="2492745"/>
                <a:ext cx="1751821" cy="2010064"/>
              </a:xfrm>
              <a:prstGeom prst="rect">
                <a:avLst/>
              </a:prstGeom>
              <a:blipFill rotWithShape="1">
                <a:blip r:embed="rId3"/>
                <a:stretch>
                  <a:fillRect l="-564" t="-492" r="-532" b="-473"/>
                </a:stretch>
              </a:blipFill>
              <a:ln>
                <a:solidFill>
                  <a:srgbClr val="1B0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下箭头 600"/>
          <p:cNvSpPr/>
          <p:nvPr/>
        </p:nvSpPr>
        <p:spPr>
          <a:xfrm>
            <a:off x="3387617" y="5507844"/>
            <a:ext cx="566102" cy="243172"/>
          </a:xfrm>
          <a:prstGeom prst="down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zh-CN" altLang="en-US" sz="2400" dirty="0">
              <a:solidFill>
                <a:srgbClr val="00B05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矩形 601"/>
          <p:cNvSpPr/>
          <p:nvPr/>
        </p:nvSpPr>
        <p:spPr>
          <a:xfrm>
            <a:off x="2197480" y="5806877"/>
            <a:ext cx="2878578" cy="461665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找出</a:t>
            </a:r>
            <a:r>
              <a:rPr lang="zh-CN" altLang="en-US" sz="2400" dirty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所有的</a:t>
            </a:r>
            <a:r>
              <a:rPr lang="zh-CN" altLang="en-US" sz="2400" dirty="0" smtClean="0">
                <a:solidFill>
                  <a:schemeClr val="dk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能级</a:t>
            </a:r>
            <a:endParaRPr lang="en-US" altLang="zh-CN" sz="2400" dirty="0">
              <a:solidFill>
                <a:schemeClr val="dk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8" name="肘形连接符 602"/>
          <p:cNvCxnSpPr/>
          <p:nvPr/>
        </p:nvCxnSpPr>
        <p:spPr>
          <a:xfrm flipV="1">
            <a:off x="6752882" y="2413060"/>
            <a:ext cx="12482" cy="227278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67585" y="743847"/>
            <a:ext cx="5711435" cy="4738888"/>
            <a:chOff x="1067585" y="743847"/>
            <a:chExt cx="5711435" cy="47388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592"/>
                <p:cNvSpPr/>
                <p:nvPr/>
              </p:nvSpPr>
              <p:spPr>
                <a:xfrm>
                  <a:off x="1115616" y="743847"/>
                  <a:ext cx="5614237" cy="461665"/>
                </a:xfrm>
                <a:prstGeom prst="rect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2400" dirty="0" smtClean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已知</a:t>
                  </a:r>
                  <a14:m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=1,2,3,</m:t>
                      </m:r>
                    </m:oMath>
                  </a14:m>
                  <a:r>
                    <a:rPr lang="en-US" altLang="zh-CN" sz="2400" dirty="0" smtClean="0">
                      <a:latin typeface="华文楷体" panose="02010600040101010101" pitchFamily="2" charset="-122"/>
                      <a:ea typeface="华文楷体" panose="02010600040101010101" pitchFamily="2" charset="-122"/>
                    </a:rPr>
                    <a:t>…</a:t>
                  </a:r>
                  <a14:m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zh-CN" altLang="en-US" sz="2400" dirty="0" smtClean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</a:t>
                  </a:r>
                  <a:r>
                    <a:rPr lang="zh-CN" altLang="en-US" sz="24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先取</a:t>
                  </a:r>
                  <a14:m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endPara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矩形 59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616" y="743847"/>
                  <a:ext cx="5614237" cy="461665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矩形 593"/>
            <p:cNvSpPr/>
            <p:nvPr/>
          </p:nvSpPr>
          <p:spPr>
            <a:xfrm>
              <a:off x="1115616" y="2313586"/>
              <a:ext cx="5614237" cy="461665"/>
            </a:xfrm>
            <a:prstGeom prst="rect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由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上式定出符合要求</a:t>
              </a:r>
              <a:r>
                <a:rPr lang="zh-CN" altLang="en-US" sz="2400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的           </a:t>
              </a:r>
              <a:endPara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" name="矩形 594"/>
            <p:cNvSpPr/>
            <p:nvPr/>
          </p:nvSpPr>
          <p:spPr>
            <a:xfrm>
              <a:off x="1115617" y="3082279"/>
              <a:ext cx="5614237" cy="830997"/>
            </a:xfrm>
            <a:prstGeom prst="rect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再将求出的值代入</a:t>
              </a:r>
              <a:r>
                <a: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(1)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式左边算出积分的值，比较</a:t>
              </a:r>
              <a:r>
                <a: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(1)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式两边是否</a:t>
              </a:r>
              <a:r>
                <a:rPr lang="zh-CN" altLang="en-US" sz="2400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相等</a:t>
              </a:r>
              <a:endPara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595"/>
                <p:cNvSpPr/>
                <p:nvPr/>
              </p:nvSpPr>
              <p:spPr>
                <a:xfrm>
                  <a:off x="1067585" y="4154486"/>
                  <a:ext cx="5711435" cy="1328249"/>
                </a:xfrm>
                <a:prstGeom prst="rect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 algn="ctr"/>
                  <a:r>
                    <a:rPr lang="zh-CN" altLang="en-US" sz="2400" dirty="0" smtClean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这相当于找下述方程的零点</a:t>
                  </a:r>
                  <a:endPara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>
                            <a:latin typeface="Cambria Math" panose="02040503050406030204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zh-CN" altLang="en-US" sz="2400">
                            <a:latin typeface="Cambria Math" panose="02040503050406030204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zh-CN" altLang="en-US" sz="2400">
                            <a:latin typeface="Cambria Math" panose="02040503050406030204"/>
                            <a:ea typeface="楷体" panose="02010609060101010101" pitchFamily="49" charset="-122"/>
                          </a:rPr>
                          <m:t>𝛾</m:t>
                        </m:r>
                        <m:nary>
                          <m:naryPr>
                            <m:ctrlPr>
                              <a:rPr lang="zh-CN" altLang="en-US" sz="2400" i="1">
                                <a:latin typeface="Cambria Math" panose="02040503050406030204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>
                                    <a:latin typeface="Cambria Math" panose="02040503050406030204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in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>
                                    <a:latin typeface="Cambria Math" panose="02040503050406030204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out</m:t>
                                </m:r>
                              </m:sub>
                            </m:sSub>
                          </m:sup>
                          <m:e>
                            <m:sSup>
                              <m:sSupPr>
                                <m:ctrlPr>
                                  <a:rPr lang="zh-CN" altLang="en-US" sz="2400" i="1">
                                    <a:latin typeface="Cambria Math" panose="02040503050406030204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/>
                                            <a:ea typeface="楷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>
                                            <a:latin typeface="Cambria Math" panose="02040503050406030204"/>
                                            <a:ea typeface="楷体" panose="02010609060101010101" pitchFamily="49" charset="-122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zh-CN" altLang="en-US" sz="2400">
                                            <a:latin typeface="Cambria Math" panose="02040503050406030204"/>
                                            <a:ea typeface="楷体" panose="02010609060101010101" pitchFamily="49" charset="-122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zh-CN" altLang="en-US" sz="2400">
                                        <a:latin typeface="Cambria Math" panose="02040503050406030204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zh-CN" altLang="en-US" sz="2400">
                                        <a:latin typeface="Cambria Math" panose="02040503050406030204"/>
                                        <a:ea typeface="楷体" panose="02010609060101010101" pitchFamily="49" charset="-122"/>
                                      </a:rPr>
                                      <m:t>𝑣</m:t>
                                    </m:r>
                                    <m:r>
                                      <a:rPr lang="zh-CN" altLang="en-US" sz="2400">
                                        <a:latin typeface="Cambria Math" panose="02040503050406030204"/>
                                        <a:ea typeface="楷体" panose="02010609060101010101" pitchFamily="49" charset="-122"/>
                                      </a:rPr>
                                      <m:t>(</m:t>
                                    </m:r>
                                    <m:r>
                                      <a:rPr lang="zh-CN" altLang="en-US" sz="2400">
                                        <a:latin typeface="Cambria Math" panose="02040503050406030204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  <m:r>
                                      <a:rPr lang="zh-CN" altLang="en-US" sz="2400">
                                        <a:latin typeface="Cambria Math" panose="02040503050406030204"/>
                                        <a:ea typeface="楷体" panose="02010609060101010101" pitchFamily="49" charset="-122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f>
                                  <m:fPr>
                                    <m:type m:val="lin"/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  <a:ea typeface="楷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400">
                                        <a:latin typeface="Cambria Math" panose="02040503050406030204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sz="2400">
                                        <a:latin typeface="Cambria Math" panose="02040503050406030204"/>
                                        <a:ea typeface="楷体" panose="02010609060101010101" pitchFamily="49" charset="-122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zh-CN" sz="2400" b="0" i="0" smtClean="0">
                                <a:latin typeface="楷体" panose="02010609060101010101" pitchFamily="49" charset="-122"/>
                                <a:ea typeface="楷体" panose="02010609060101010101" pitchFamily="49" charset="-122"/>
                              </a:rPr>
                              <m:t>d</m:t>
                            </m:r>
                            <m:r>
                              <a:rPr lang="zh-CN" altLang="en-US" sz="2400">
                                <a:latin typeface="Cambria Math" panose="02040503050406030204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</m:nary>
                        <m:r>
                          <m:rPr>
                            <m:nor/>
                          </m:rPr>
                          <a:rPr lang="zh-CN" altLang="en-US" sz="2400">
                            <a:latin typeface="楷体" panose="02010609060101010101" pitchFamily="49" charset="-122"/>
                            <a:ea typeface="楷体" panose="02010609060101010101" pitchFamily="49" charset="-122"/>
                          </a:rPr>
                          <m:t>−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zh-CN" altLang="en-US" sz="2400">
                                <a:latin typeface="Cambria Math" panose="02040503050406030204"/>
                                <a:ea typeface="楷体" panose="02010609060101010101" pitchFamily="49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zh-CN" altLang="en-US" sz="2400" i="1">
                                    <a:latin typeface="Cambria Math" panose="02040503050406030204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>
                                    <a:latin typeface="Cambria Math" panose="02040503050406030204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2400">
                                    <a:latin typeface="Cambria Math" panose="02040503050406030204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/>
                            <a:ea typeface="楷体" panose="02010609060101010101" pitchFamily="49" charset="-122"/>
                          </a:rPr>
                          <m:t>π</m:t>
                        </m:r>
                      </m:oMath>
                    </m:oMathPara>
                  </a14:m>
                  <a:endPara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" name="矩形 59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7585" y="4154486"/>
                  <a:ext cx="5711435" cy="1328249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下箭头 597"/>
            <p:cNvSpPr/>
            <p:nvPr/>
          </p:nvSpPr>
          <p:spPr>
            <a:xfrm>
              <a:off x="3412957" y="1239232"/>
              <a:ext cx="566102" cy="243172"/>
            </a:xfrm>
            <a:prstGeom prst="downArrow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marL="0" indent="0" algn="ctr" eaLnBrk="1" hangingPunct="1">
                <a:buNone/>
              </a:pPr>
              <a:endParaRPr lang="zh-CN" altLang="en-US" sz="2400" dirty="0" smtClean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1" name="下箭头 598"/>
            <p:cNvSpPr/>
            <p:nvPr/>
          </p:nvSpPr>
          <p:spPr>
            <a:xfrm>
              <a:off x="3375659" y="2806008"/>
              <a:ext cx="566102" cy="243172"/>
            </a:xfrm>
            <a:prstGeom prst="downArrow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 eaLnBrk="1" hangingPunct="1"/>
              <a:endParaRPr lang="zh-CN" altLang="en-US" sz="24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2" name="下箭头 599"/>
            <p:cNvSpPr/>
            <p:nvPr/>
          </p:nvSpPr>
          <p:spPr>
            <a:xfrm>
              <a:off x="3387617" y="3912534"/>
              <a:ext cx="566102" cy="243172"/>
            </a:xfrm>
            <a:prstGeom prst="downArrow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 eaLnBrk="1" hangingPunct="1"/>
              <a:endParaRPr lang="zh-CN" altLang="en-US" sz="24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603"/>
                <p:cNvSpPr/>
                <p:nvPr/>
              </p:nvSpPr>
              <p:spPr>
                <a:xfrm>
                  <a:off x="1115616" y="1507590"/>
                  <a:ext cx="5599950" cy="461665"/>
                </a:xfrm>
                <a:prstGeom prst="rect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2400" dirty="0">
                      <a:solidFill>
                        <a:schemeClr val="dk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先选一个最小的</a:t>
                  </a:r>
                  <a14:m>
                    <m:oMath xmlns:m="http://schemas.openxmlformats.org/officeDocument/2006/math">
                      <m:r>
                        <a:rPr lang="en-US" altLang="zh-CN" sz="2400" dirty="0">
                          <a:solidFill>
                            <a:schemeClr val="dk1"/>
                          </a:solidFill>
                          <a:latin typeface="Cambria Math" panose="02040503050406030204"/>
                          <a:ea typeface="楷体" panose="02010609060101010101" pitchFamily="49" charset="-122"/>
                        </a:rPr>
                        <m:t>𝜀</m:t>
                      </m:r>
                      <m:r>
                        <a:rPr lang="en-US" altLang="zh-CN" sz="2400" baseline="-25000" dirty="0">
                          <a:solidFill>
                            <a:schemeClr val="dk1"/>
                          </a:solidFill>
                          <a:latin typeface="Cambria Math" panose="02040503050406030204"/>
                          <a:ea typeface="楷体" panose="02010609060101010101" pitchFamily="49" charset="-122"/>
                        </a:rPr>
                        <m:t>1</m:t>
                      </m:r>
                    </m:oMath>
                  </a14:m>
                  <a:r>
                    <a:rPr lang="zh-CN" altLang="en-US" sz="2400" dirty="0">
                      <a:solidFill>
                        <a:schemeClr val="dk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的值</a:t>
                  </a:r>
                </a:p>
              </p:txBody>
            </p:sp>
          </mc:Choice>
          <mc:Fallback xmlns="">
            <p:sp>
              <p:nvSpPr>
                <p:cNvPr id="36" name="矩形 60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616" y="1507590"/>
                  <a:ext cx="5599950" cy="461665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下箭头 604"/>
            <p:cNvSpPr/>
            <p:nvPr/>
          </p:nvSpPr>
          <p:spPr>
            <a:xfrm>
              <a:off x="3387617" y="2015051"/>
              <a:ext cx="566102" cy="243172"/>
            </a:xfrm>
            <a:prstGeom prst="downArrow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 eaLnBrk="1" hangingPunct="1"/>
              <a:endParaRPr lang="zh-CN" altLang="en-US" sz="2400" dirty="0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43" name="肘形连接符 605"/>
          <p:cNvCxnSpPr>
            <a:stCxn id="8" idx="1"/>
            <a:endCxn id="5" idx="1"/>
          </p:cNvCxnSpPr>
          <p:nvPr/>
        </p:nvCxnSpPr>
        <p:spPr>
          <a:xfrm rot="10800000" flipH="1">
            <a:off x="1067584" y="974681"/>
            <a:ext cx="48031" cy="3843931"/>
          </a:xfrm>
          <a:prstGeom prst="bentConnector3">
            <a:avLst>
              <a:gd name="adj1" fmla="val -475943"/>
            </a:avLst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页脚占位符 3"/>
          <p:cNvSpPr txBox="1"/>
          <p:nvPr/>
        </p:nvSpPr>
        <p:spPr>
          <a:xfrm>
            <a:off x="2771800" y="6387985"/>
            <a:ext cx="374441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  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分子振动的半经典量子化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22820" y="1728810"/>
            <a:ext cx="553998" cy="1631216"/>
          </a:xfrm>
          <a:prstGeom prst="rect">
            <a:avLst/>
          </a:prstGeom>
          <a:noFill/>
          <a:ln>
            <a:solidFill>
              <a:srgbClr val="1B0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eaVert" wrap="none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依次做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下去</a:t>
            </a:r>
            <a:endParaRPr lang="zh-CN" altLang="en-US" sz="2400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435738" y="2357817"/>
          <a:ext cx="1080478" cy="451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7" name="Equation" r:id="rId7" imgW="457200" imgH="228600" progId="">
                  <p:embed/>
                </p:oleObj>
              </mc:Choice>
              <mc:Fallback>
                <p:oleObj name="Equation" r:id="rId7" imgW="457200" imgH="22860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738" y="2357817"/>
                        <a:ext cx="1080478" cy="451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4" grpId="0" animBg="1"/>
      <p:bldP spid="4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8DA490-ED8E-4C67-B7BA-D30E019A5610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8662" y="142853"/>
            <a:ext cx="7215238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/>
              <a:t>e=-0.99;                  %E1</a:t>
            </a:r>
            <a:r>
              <a:rPr lang="zh-CN" altLang="en-US" sz="2800" dirty="0" smtClean="0"/>
              <a:t>的尝试值</a:t>
            </a:r>
          </a:p>
          <a:p>
            <a:r>
              <a:rPr lang="en-US" altLang="zh-CN" sz="2800" dirty="0" smtClean="0"/>
              <a:t>for k=1:10               %</a:t>
            </a:r>
            <a:r>
              <a:rPr lang="zh-CN" altLang="en-US" sz="2800" dirty="0" smtClean="0"/>
              <a:t>计算</a:t>
            </a:r>
            <a:r>
              <a:rPr lang="en-US" altLang="zh-CN" sz="2800" dirty="0" smtClean="0"/>
              <a:t>10</a:t>
            </a:r>
            <a:r>
              <a:rPr lang="zh-CN" altLang="en-US" sz="2800" dirty="0" smtClean="0"/>
              <a:t>个能级</a:t>
            </a:r>
          </a:p>
          <a:p>
            <a:r>
              <a:rPr lang="zh-CN" altLang="en-US" sz="2800" dirty="0" smtClean="0"/>
              <a:t>    </a:t>
            </a:r>
            <a:r>
              <a:rPr lang="en-US" altLang="zh-CN" sz="2800" dirty="0" smtClean="0"/>
              <a:t>f2=0.1;                %f2</a:t>
            </a:r>
            <a:r>
              <a:rPr lang="zh-CN" altLang="en-US" sz="2800" dirty="0" smtClean="0"/>
              <a:t>启动值</a:t>
            </a:r>
          </a:p>
          <a:p>
            <a:r>
              <a:rPr lang="en-US" altLang="zh-CN" sz="2800" dirty="0" smtClean="0"/>
              <a:t>while f2&gt;=1e-4 </a:t>
            </a:r>
          </a:p>
          <a:p>
            <a:r>
              <a:rPr lang="en-US" altLang="zh-CN" sz="2800" dirty="0" smtClean="0"/>
              <a:t>  x1=(2/((e + 1)^(1/2) + 1))^(1/6);</a:t>
            </a:r>
          </a:p>
          <a:p>
            <a:r>
              <a:rPr lang="en-US" altLang="zh-CN" sz="2800" dirty="0" smtClean="0"/>
              <a:t>  x2=(-2/((e + 1)^(1/2) - 1))^(1/6);</a:t>
            </a:r>
          </a:p>
          <a:p>
            <a:r>
              <a:rPr lang="en-US" altLang="zh-CN" sz="2800" dirty="0" smtClean="0"/>
              <a:t>  x=x1:0.0005:x2;</a:t>
            </a:r>
          </a:p>
          <a:p>
            <a:r>
              <a:rPr lang="en-US" altLang="zh-CN" sz="2800" dirty="0" smtClean="0"/>
              <a:t>  p=abs(</a:t>
            </a:r>
            <a:r>
              <a:rPr lang="en-US" altLang="zh-CN" sz="2800" dirty="0" err="1" smtClean="0"/>
              <a:t>sqrt</a:t>
            </a:r>
            <a:r>
              <a:rPr lang="en-US" altLang="zh-CN" sz="2800" dirty="0" smtClean="0"/>
              <a:t>(e-4*(x.^(-12)-x.^(-6))));</a:t>
            </a:r>
          </a:p>
          <a:p>
            <a:r>
              <a:rPr lang="en-US" altLang="zh-CN" sz="2800" dirty="0" smtClean="0"/>
              <a:t>  f2=(k-0.5)*pi-100* </a:t>
            </a:r>
            <a:r>
              <a:rPr lang="en-US" altLang="zh-CN" sz="2800" dirty="0" err="1" smtClean="0"/>
              <a:t>trapz</a:t>
            </a:r>
            <a:r>
              <a:rPr lang="en-US" altLang="zh-CN" sz="2800" dirty="0" smtClean="0"/>
              <a:t>(p)*0.0005;</a:t>
            </a:r>
          </a:p>
          <a:p>
            <a:r>
              <a:rPr lang="en-US" altLang="zh-CN" sz="2800" dirty="0" smtClean="0"/>
              <a:t>  e=e-0.00001*e;</a:t>
            </a:r>
          </a:p>
          <a:p>
            <a:r>
              <a:rPr lang="en-US" altLang="zh-CN" sz="2800" dirty="0" smtClean="0"/>
              <a:t>end</a:t>
            </a:r>
          </a:p>
          <a:p>
            <a:r>
              <a:rPr lang="en-US" altLang="zh-CN" sz="2800" dirty="0" smtClean="0"/>
              <a:t>     E(k)=e;</a:t>
            </a:r>
          </a:p>
          <a:p>
            <a:r>
              <a:rPr lang="en-US" altLang="zh-CN" sz="2800" dirty="0" smtClean="0"/>
              <a:t>end</a:t>
            </a:r>
          </a:p>
          <a:p>
            <a:r>
              <a:rPr lang="en-US" altLang="zh-CN" sz="2800" dirty="0" smtClean="0"/>
              <a:t>E                %  </a:t>
            </a:r>
            <a:r>
              <a:rPr lang="zh-CN" altLang="en-US" sz="2800" dirty="0" smtClean="0"/>
              <a:t>输出能级值</a:t>
            </a:r>
          </a:p>
          <a:p>
            <a:endParaRPr lang="en-US" altLang="zh-CN" dirty="0"/>
          </a:p>
        </p:txBody>
      </p:sp>
      <p:sp>
        <p:nvSpPr>
          <p:cNvPr id="5" name="页脚占位符 3"/>
          <p:cNvSpPr txBox="1"/>
          <p:nvPr/>
        </p:nvSpPr>
        <p:spPr>
          <a:xfrm>
            <a:off x="2771800" y="6387985"/>
            <a:ext cx="374441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  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分子振动的半经典量子化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8DA490-ED8E-4C67-B7BA-D30E019A5610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0034" y="285728"/>
            <a:ext cx="807249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/>
              <a:t>function nch3</a:t>
            </a:r>
          </a:p>
          <a:p>
            <a:r>
              <a:rPr lang="en-US" altLang="zh-CN" sz="2800" dirty="0" smtClean="0"/>
              <a:t>global x1 x2</a:t>
            </a:r>
          </a:p>
          <a:p>
            <a:r>
              <a:rPr lang="en-US" altLang="zh-CN" sz="2800" dirty="0" smtClean="0"/>
              <a:t>e1=-0.95;             %E1</a:t>
            </a:r>
            <a:r>
              <a:rPr lang="zh-CN" altLang="en-US" sz="2800" dirty="0" smtClean="0"/>
              <a:t>的尝试值</a:t>
            </a:r>
          </a:p>
          <a:p>
            <a:r>
              <a:rPr lang="en-US" altLang="zh-CN" sz="2800" dirty="0" smtClean="0"/>
              <a:t>for k=1:10</a:t>
            </a:r>
          </a:p>
          <a:p>
            <a:r>
              <a:rPr lang="en-US" altLang="zh-CN" sz="2800" dirty="0" smtClean="0"/>
              <a:t>E(k)=</a:t>
            </a:r>
            <a:r>
              <a:rPr lang="en-US" altLang="zh-CN" sz="2800" dirty="0" err="1" smtClean="0"/>
              <a:t>fzero</a:t>
            </a:r>
            <a:r>
              <a:rPr lang="en-US" altLang="zh-CN" sz="2800" dirty="0" smtClean="0"/>
              <a:t>(@hhh,e1,optimset('tolx',1e-6),k);</a:t>
            </a:r>
          </a:p>
          <a:p>
            <a:r>
              <a:rPr lang="en-US" altLang="zh-CN" sz="2800" dirty="0" smtClean="0"/>
              <a:t>e1=E(k)+0.04*abs(E(k));</a:t>
            </a:r>
          </a:p>
          <a:p>
            <a:r>
              <a:rPr lang="en-US" altLang="zh-CN" sz="2800" dirty="0" smtClean="0"/>
              <a:t>end</a:t>
            </a:r>
          </a:p>
          <a:p>
            <a:r>
              <a:rPr lang="en-US" altLang="zh-CN" sz="2800" dirty="0" smtClean="0"/>
              <a:t>E                    %</a:t>
            </a:r>
            <a:r>
              <a:rPr lang="zh-CN" altLang="en-US" sz="2800" dirty="0" smtClean="0"/>
              <a:t>输出能级值</a:t>
            </a:r>
          </a:p>
          <a:p>
            <a:r>
              <a:rPr lang="en-US" altLang="zh-CN" sz="2800" dirty="0" smtClean="0"/>
              <a:t>   function f2=</a:t>
            </a:r>
            <a:r>
              <a:rPr lang="en-US" altLang="zh-CN" sz="2800" dirty="0" err="1" smtClean="0"/>
              <a:t>hhh</a:t>
            </a:r>
            <a:r>
              <a:rPr lang="en-US" altLang="zh-CN" sz="2800" dirty="0" smtClean="0"/>
              <a:t>(</a:t>
            </a:r>
            <a:r>
              <a:rPr lang="en-US" altLang="zh-CN" sz="2800" dirty="0" err="1" smtClean="0"/>
              <a:t>e,kk</a:t>
            </a:r>
            <a:r>
              <a:rPr lang="en-US" altLang="zh-CN" sz="2800" dirty="0" smtClean="0"/>
              <a:t>)       %</a:t>
            </a:r>
            <a:r>
              <a:rPr lang="zh-CN" altLang="en-US" sz="2800" dirty="0" smtClean="0"/>
              <a:t>子函数文件</a:t>
            </a:r>
          </a:p>
          <a:p>
            <a:r>
              <a:rPr lang="en-US" altLang="zh-CN" sz="2800" dirty="0" smtClean="0"/>
              <a:t>   global x1 x2</a:t>
            </a:r>
          </a:p>
          <a:p>
            <a:r>
              <a:rPr lang="en-US" altLang="zh-CN" sz="2800" dirty="0" smtClean="0"/>
              <a:t>   x1=(2/((e + 1)^(1/2) + 1))^(1/6);</a:t>
            </a:r>
          </a:p>
          <a:p>
            <a:r>
              <a:rPr lang="en-US" altLang="zh-CN" sz="2800" dirty="0" smtClean="0"/>
              <a:t>   x2=(-2/((e + 1)^(1/2) - 1))^(1/6);</a:t>
            </a:r>
          </a:p>
          <a:p>
            <a:r>
              <a:rPr lang="en-US" altLang="zh-CN" sz="2800" dirty="0" smtClean="0"/>
              <a:t>   v2=@(</a:t>
            </a:r>
            <a:r>
              <a:rPr lang="en-US" altLang="zh-CN" sz="2800" dirty="0" err="1" smtClean="0"/>
              <a:t>x,e</a:t>
            </a:r>
            <a:r>
              <a:rPr lang="en-US" altLang="zh-CN" sz="2800" dirty="0" smtClean="0"/>
              <a:t>)abs(</a:t>
            </a:r>
            <a:r>
              <a:rPr lang="en-US" altLang="zh-CN" sz="2800" dirty="0" err="1" smtClean="0"/>
              <a:t>sqrt</a:t>
            </a:r>
            <a:r>
              <a:rPr lang="en-US" altLang="zh-CN" sz="2800" dirty="0" smtClean="0"/>
              <a:t>(e-4*(x.^(-12)-x.^(-6))));</a:t>
            </a:r>
          </a:p>
          <a:p>
            <a:r>
              <a:rPr lang="en-US" altLang="zh-CN" sz="2800" dirty="0" smtClean="0"/>
              <a:t>   f2=(kk-0.5)*pi-100*quad(@(x)v2(</a:t>
            </a:r>
            <a:r>
              <a:rPr lang="en-US" altLang="zh-CN" sz="2800" dirty="0" err="1" smtClean="0"/>
              <a:t>x,e</a:t>
            </a:r>
            <a:r>
              <a:rPr lang="en-US" altLang="zh-CN" sz="2800" dirty="0" smtClean="0"/>
              <a:t>),x1,x2);</a:t>
            </a:r>
            <a:endParaRPr lang="en-US" altLang="zh-CN" sz="2800" dirty="0"/>
          </a:p>
        </p:txBody>
      </p:sp>
      <p:sp>
        <p:nvSpPr>
          <p:cNvPr id="5" name="页脚占位符 3"/>
          <p:cNvSpPr txBox="1"/>
          <p:nvPr/>
        </p:nvSpPr>
        <p:spPr>
          <a:xfrm>
            <a:off x="2771800" y="6387985"/>
            <a:ext cx="374441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  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分子振动的半经典量子化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新程序对比与改进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 smtClean="0">
                <a:solidFill>
                  <a:srgbClr val="C00000"/>
                </a:solidFill>
              </a:rPr>
              <a:t>程序一：</a:t>
            </a:r>
            <a:r>
              <a:rPr lang="zh-CN" altLang="en-US" sz="3200" b="1" dirty="0" smtClean="0">
                <a:solidFill>
                  <a:srgbClr val="00B050"/>
                </a:solidFill>
              </a:rPr>
              <a:t>不用求零点的指令，程序貌似简单，但是计算效率低</a:t>
            </a:r>
            <a:endParaRPr lang="en-US" altLang="zh-CN" sz="3200" b="1" dirty="0" smtClean="0">
              <a:solidFill>
                <a:srgbClr val="00B05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zh-CN" altLang="en-US" sz="3200" dirty="0" smtClean="0">
                <a:solidFill>
                  <a:srgbClr val="C00000"/>
                </a:solidFill>
              </a:rPr>
              <a:t>程序二：</a:t>
            </a:r>
            <a:r>
              <a:rPr lang="zh-CN" altLang="en-US" sz="3200" b="1" dirty="0" smtClean="0">
                <a:solidFill>
                  <a:srgbClr val="00B050"/>
                </a:solidFill>
              </a:rPr>
              <a:t>对书上程序的改进</a:t>
            </a:r>
            <a:endParaRPr lang="en-US" altLang="zh-CN" sz="3200" b="1" dirty="0" smtClean="0">
              <a:solidFill>
                <a:srgbClr val="00B050"/>
              </a:solidFill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800" dirty="0" smtClean="0"/>
              <a:t>X1,X2</a:t>
            </a:r>
            <a:r>
              <a:rPr lang="zh-CN" altLang="en-US" sz="2800" dirty="0" smtClean="0"/>
              <a:t>用符号函数求解，直接利用结果</a:t>
            </a:r>
            <a:endParaRPr lang="en-US" altLang="zh-CN" sz="28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800" dirty="0" smtClean="0"/>
              <a:t>子函数文件中的函数用函数句柄重新定义，注意带参数的函数句柄的用法，并取了绝对值以消除开方后的虚部</a:t>
            </a:r>
            <a:endParaRPr lang="en-US" altLang="zh-CN" sz="2800" dirty="0" smtClean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800" dirty="0" smtClean="0"/>
              <a:t>将作图循环合并到计算循环中</a:t>
            </a:r>
            <a:endParaRPr lang="en-US" altLang="zh-CN" sz="2800" dirty="0" smtClean="0"/>
          </a:p>
          <a:p>
            <a:pP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5" name="页脚占位符 3"/>
          <p:cNvSpPr txBox="1"/>
          <p:nvPr/>
        </p:nvSpPr>
        <p:spPr>
          <a:xfrm>
            <a:off x="2771800" y="6387985"/>
            <a:ext cx="3744416" cy="457200"/>
          </a:xfrm>
          <a:prstGeom prst="rect">
            <a:avLst/>
          </a:prstGeom>
        </p:spPr>
        <p:txBody>
          <a:bodyPr vert="horz" anchor="ctr"/>
          <a:lstStyle>
            <a:defPPr>
              <a:defRPr lang="zh-CN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§3.5    </a:t>
            </a:r>
            <a:r>
              <a:rPr lang="zh-CN" altLang="en-US" dirty="0" smtClean="0">
                <a:solidFill>
                  <a:srgbClr val="967D4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分子振动的半经典量子化</a:t>
            </a:r>
            <a:endParaRPr lang="zh-CN" altLang="en-US" dirty="0">
              <a:solidFill>
                <a:srgbClr val="967D4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4896037" y="4958848"/>
            <a:ext cx="2262158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kumimoji="1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defRPr kumimoji="1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9pPr>
          </a:lstStyle>
          <a:p>
            <a:pPr>
              <a:spcBef>
                <a:spcPct val="0"/>
              </a:spcBef>
            </a:pPr>
            <a:r>
              <a:rPr kumimoji="0" lang="zh-CN" altLang="en-US" sz="4050">
                <a:solidFill>
                  <a:srgbClr val="FF33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第三章</a:t>
            </a:r>
            <a:r>
              <a:rPr kumimoji="0" lang="zh-CN" altLang="en-US" sz="4050" dirty="0">
                <a:solidFill>
                  <a:srgbClr val="FF33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完</a:t>
            </a:r>
            <a:endParaRPr kumimoji="0" lang="zh-CN" altLang="en-US" sz="405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Picture 2" descr="http://lh6.ggpht.com/_Nn4ysq5PBI8/SWcBdxmnFSI/AAAAAAAACjY/iV6-sbrigvg/s800/33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6214" y="1023947"/>
            <a:ext cx="6125705" cy="3957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089dde0-6451-419a-80f0-27e2fedaf929"/>
  <p:tag name="COMMONDATA" val="eyJoZGlkIjoiMjBkZDM3OWY1ZTY1OTcxMTE1M2ZiMDE2Nzc4YTdlMmQ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题8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wrap="square">
        <a:noAutofit/>
      </a:bodyPr>
      <a:lstStyle>
        <a:defPPr marL="0" indent="0" eaLnBrk="1" hangingPunct="1">
          <a:buNone/>
          <a:defRPr sz="2400" dirty="0" smtClean="0">
            <a:solidFill>
              <a:srgbClr val="00B050"/>
            </a:solidFill>
            <a:latin typeface="楷体" panose="02010609060101010101" pitchFamily="49" charset="-122"/>
            <a:ea typeface="楷体" panose="02010609060101010101" pitchFamily="49" charset="-122"/>
            <a:cs typeface="Arial" panose="020B0604020202020204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>
            <a:latin typeface="楷体" panose="02010609060101010101" pitchFamily="49" charset="-122"/>
            <a:ea typeface="楷体" panose="02010609060101010101" pitchFamily="49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计算物理课件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>
        <a:spAutoFit/>
      </a:bodyPr>
      <a:lstStyle>
        <a:defPPr>
          <a:defRPr sz="2400" kern="0" dirty="0">
            <a:latin typeface="楷体" panose="02010609060101010101" pitchFamily="49" charset="-122"/>
            <a:ea typeface="楷体" panose="02010609060101010101" pitchFamily="49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>
          <a:defRPr sz="2400" dirty="0">
            <a:latin typeface="楷体" panose="02010609060101010101" pitchFamily="49" charset="-122"/>
            <a:ea typeface="楷体" panose="02010609060101010101" pitchFamily="49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主题8</Template>
  <TotalTime>99</TotalTime>
  <Words>3162</Words>
  <Application>Microsoft Office PowerPoint</Application>
  <PresentationFormat>全屏显示(4:3)</PresentationFormat>
  <Paragraphs>409</Paragraphs>
  <Slides>35</Slides>
  <Notes>6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8" baseType="lpstr">
      <vt:lpstr>主题8</vt:lpstr>
      <vt:lpstr>计算物理课件</vt:lpstr>
      <vt:lpstr>Equation</vt:lpstr>
      <vt:lpstr>第三章   数值微分与数值积分</vt:lpstr>
      <vt:lpstr>本章内容</vt:lpstr>
      <vt:lpstr>教学目标</vt:lpstr>
      <vt:lpstr>§3.1  数值微分与数值积分</vt:lpstr>
      <vt:lpstr>§3.1.2  数值积分的算法</vt:lpstr>
      <vt:lpstr>2.定积分的辛普生公式(精度更高)</vt:lpstr>
      <vt:lpstr>PowerPoint 演示文稿</vt:lpstr>
      <vt:lpstr>§3.2  MATLAB指令</vt:lpstr>
      <vt:lpstr>§3.2.2  梯度计算（gradient）</vt:lpstr>
      <vt:lpstr>PowerPoint 演示文稿</vt:lpstr>
      <vt:lpstr>§3.2.3 离散拉普拉斯算符(del2)</vt:lpstr>
      <vt:lpstr>函数├ U(x,y)=(x^2+y^2 )有Δ_2 U=4</vt:lpstr>
      <vt:lpstr>§3.2.4  梯形积分(trapz)</vt:lpstr>
      <vt:lpstr>PowerPoint 演示文稿</vt:lpstr>
      <vt:lpstr>§3.2.5 累计梯形积分(cumtrapz)</vt:lpstr>
      <vt:lpstr>§3.2.6 函数积分(quad,quadl)</vt:lpstr>
      <vt:lpstr>例</vt:lpstr>
      <vt:lpstr>PowerPoint 演示文稿</vt:lpstr>
      <vt:lpstr>PowerPoint 演示文稿</vt:lpstr>
      <vt:lpstr>§3.2.7 函数的二重积分(dblquad)</vt:lpstr>
      <vt:lpstr>§3.2.8 函数的三重积分（triplequad）</vt:lpstr>
      <vt:lpstr>§3.3  用符号工具箱计算微积分</vt:lpstr>
      <vt:lpstr>§3.4  环形电流的磁场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§3.5  分子振动的半经典量子化</vt:lpstr>
      <vt:lpstr>PowerPoint 演示文稿</vt:lpstr>
      <vt:lpstr>PowerPoint 演示文稿</vt:lpstr>
      <vt:lpstr>PowerPoint 演示文稿</vt:lpstr>
      <vt:lpstr>PowerPoint 演示文稿</vt:lpstr>
      <vt:lpstr>新程序对比与改进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pfl</dc:creator>
  <cp:lastModifiedBy>微软用户</cp:lastModifiedBy>
  <cp:revision>338</cp:revision>
  <dcterms:created xsi:type="dcterms:W3CDTF">2012-11-24T23:20:00Z</dcterms:created>
  <dcterms:modified xsi:type="dcterms:W3CDTF">2025-04-15T01:33:47Z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4D83E4F69D5840548567DAAE06DACAF2_12</vt:lpwstr>
  </property>
  <property fmtid="{D5CDD505-2E9C-101B-9397-08002B2CF9AE}" pid="3" name="KSOProductBuildVer">
    <vt:lpwstr>2052-12.1.0.16399</vt:lpwstr>
  </property>
</Properties>
</file>